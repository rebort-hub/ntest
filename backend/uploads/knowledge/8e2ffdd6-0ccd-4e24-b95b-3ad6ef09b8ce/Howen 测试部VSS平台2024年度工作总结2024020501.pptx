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2"/>
    <p:sldMasterId id="2147483677" r:id="rId3"/>
  </p:sldMasterIdLst>
  <p:notesMasterIdLst>
    <p:notesMasterId r:id="rId13"/>
  </p:notesMasterIdLst>
  <p:handoutMasterIdLst>
    <p:handoutMasterId r:id="rId14"/>
  </p:handoutMasterIdLst>
  <p:sldIdLst>
    <p:sldId id="1096" r:id="rId4"/>
    <p:sldId id="1078" r:id="rId5"/>
    <p:sldId id="1130" r:id="rId6"/>
    <p:sldId id="1131" r:id="rId7"/>
    <p:sldId id="1137" r:id="rId8"/>
    <p:sldId id="1132" r:id="rId9"/>
    <p:sldId id="1135" r:id="rId10"/>
    <p:sldId id="1122" r:id="rId11"/>
    <p:sldId id="1126" r:id="rId12"/>
  </p:sldIdLst>
  <p:sldSz cx="9144000" cy="6858000" type="screen4x3"/>
  <p:notesSz cx="6797675" cy="9926638"/>
  <p:custDataLst>
    <p:tags r:id="rId15"/>
  </p:custDataLst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FC7F53-F1FC-4904-B605-076556526CA4}">
          <p14:sldIdLst>
            <p14:sldId id="1096"/>
            <p14:sldId id="1078"/>
            <p14:sldId id="1130"/>
            <p14:sldId id="1131"/>
            <p14:sldId id="1137"/>
            <p14:sldId id="1132"/>
            <p14:sldId id="1135"/>
            <p14:sldId id="1122"/>
            <p14:sldId id="11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2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0">
          <p15:clr>
            <a:srgbClr val="A4A3A4"/>
          </p15:clr>
        </p15:guide>
        <p15:guide id="2" pos="204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W" initials="L" lastIdx="2" clrIdx="0"/>
  <p:cmAuthor id="2" name="盼平 刘" initials="盼平" lastIdx="2" clrIdx="1"/>
  <p:cmAuthor id="3" name="Matías Su" initials="MS" lastIdx="3" clrIdx="2"/>
  <p:cmAuthor id="4" name="Zhu Leon" initials="ZL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FF7"/>
    <a:srgbClr val="E9EBF5"/>
    <a:srgbClr val="FF3300"/>
    <a:srgbClr val="B06060"/>
    <a:srgbClr val="C68D8D"/>
    <a:srgbClr val="00B0F0"/>
    <a:srgbClr val="0000FF"/>
    <a:srgbClr val="A2ABFC"/>
    <a:srgbClr val="FFFF66"/>
    <a:srgbClr val="D5C9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90" autoAdjust="0"/>
    <p:restoredTop sz="96408" autoAdjust="0"/>
  </p:normalViewPr>
  <p:slideViewPr>
    <p:cSldViewPr showGuides="1">
      <p:cViewPr varScale="1">
        <p:scale>
          <a:sx n="110" d="100"/>
          <a:sy n="110" d="100"/>
        </p:scale>
        <p:origin x="1944" y="108"/>
      </p:cViewPr>
      <p:guideLst>
        <p:guide orient="horz" pos="2328"/>
        <p:guide pos="274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42"/>
    </p:cViewPr>
  </p:sorterViewPr>
  <p:notesViewPr>
    <p:cSldViewPr>
      <p:cViewPr varScale="1">
        <p:scale>
          <a:sx n="84" d="100"/>
          <a:sy n="84" d="100"/>
        </p:scale>
        <p:origin x="3924" y="96"/>
      </p:cViewPr>
      <p:guideLst>
        <p:guide orient="horz" pos="3370"/>
        <p:guide pos="20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VSS</a:t>
            </a:r>
            <a:r>
              <a:rPr lang="zh-CN" altLang="en-US"/>
              <a:t>版本</a:t>
            </a:r>
            <a:r>
              <a:rPr lang="en-US" altLang="zh-CN"/>
              <a:t>BUG</a:t>
            </a:r>
            <a:r>
              <a:rPr lang="zh-CN" altLang="en-US"/>
              <a:t>情况</a:t>
            </a:r>
          </a:p>
        </c:rich>
      </c:tx>
      <c:layout>
        <c:manualLayout>
          <c:xMode val="edge"/>
          <c:yMode val="edge"/>
          <c:x val="0.340744693466145"/>
          <c:y val="1.68360864040661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bug百分比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25-433A-8E6F-988B20D0A3D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25-433A-8E6F-988B20D0A3D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25-433A-8E6F-988B20D0A3D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VSS 2.2</c:v>
                </c:pt>
                <c:pt idx="1">
                  <c:v>VSS 2.3</c:v>
                </c:pt>
                <c:pt idx="2">
                  <c:v>VSS 2.3.1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0.31992687385740398</c:v>
                </c:pt>
                <c:pt idx="1">
                  <c:v>0.51553930530164505</c:v>
                </c:pt>
                <c:pt idx="2">
                  <c:v>0.164533820840951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25-433A-8E6F-988B20D0A3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389b8b0-ea05-498b-b56a-61160063c3f6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VSS</a:t>
            </a:r>
            <a:r>
              <a:rPr lang="zh-CN" altLang="en-US"/>
              <a:t>全年发布版本情况</a:t>
            </a:r>
          </a:p>
        </c:rich>
      </c:tx>
      <c:layout>
        <c:manualLayout>
          <c:xMode val="edge"/>
          <c:yMode val="edge"/>
          <c:x val="0.199277376320178"/>
          <c:y val="2.92340517893361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已导入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VSS 2.2</c:v>
                </c:pt>
                <c:pt idx="1">
                  <c:v>VSS 2.3</c:v>
                </c:pt>
                <c:pt idx="2">
                  <c:v>VSS 2.3.1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77-47F5-A969-2DB0D38512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243744864"/>
        <c:axId val="308221584"/>
      </c:barChart>
      <c:catAx>
        <c:axId val="24374486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08221584"/>
        <c:crosses val="autoZero"/>
        <c:auto val="1"/>
        <c:lblAlgn val="ctr"/>
        <c:lblOffset val="100"/>
        <c:noMultiLvlLbl val="0"/>
      </c:catAx>
      <c:valAx>
        <c:axId val="308221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43744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9e7eec5-2330-4661-a6a9-7b1af463a6e3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FCA03-50F7-445D-AB13-DED29CABD98F}" type="datetimeFigureOut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2AE36-C86F-4E71-8BEA-932460452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24" tIns="46662" rIns="93324" bIns="46662" numCol="1" anchor="t" anchorCtr="0" compatLnSpc="1"/>
          <a:lstStyle>
            <a:lvl1pPr algn="l" defTabSz="93345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24" tIns="46662" rIns="93324" bIns="46662" numCol="1" anchor="t" anchorCtr="0" compatLnSpc="1"/>
          <a:lstStyle>
            <a:lvl1pPr algn="r" defTabSz="93345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24" tIns="46662" rIns="93324" bIns="46662" numCol="1" anchor="t" anchorCtr="0" compatLnSpc="1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24" tIns="46662" rIns="93324" bIns="46662" numCol="1" anchor="b" anchorCtr="0" compatLnSpc="1"/>
          <a:lstStyle>
            <a:lvl1pPr algn="l" defTabSz="93345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24" tIns="46662" rIns="93324" bIns="46662" numCol="1" anchor="b" anchorCtr="0" compatLnSpc="1"/>
          <a:lstStyle>
            <a:lvl1pPr algn="r" defTabSz="93345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EE559A-5493-4B4F-9761-E16E330ACDF0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E62B34-68F3-4B20-817C-370CBC2A8714}" type="slidenum">
              <a:rPr lang="en-US" altLang="zh-CN" smtClean="0">
                <a:ea typeface="宋体" panose="02010600030101010101" pitchFamily="2" charset="-122"/>
              </a:rPr>
              <a:t>1</a:t>
            </a:fld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6763"/>
            <a:ext cx="6823075" cy="3838575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931" y="4858584"/>
            <a:ext cx="5682615" cy="4606211"/>
          </a:xfrm>
          <a:noFill/>
        </p:spPr>
        <p:txBody>
          <a:bodyPr/>
          <a:lstStyle/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C6CAFF-5800-4D2B-89A6-9C02FA2E7063}" type="slidenum">
              <a:rPr lang="en-US" altLang="zh-CN" smtClean="0"/>
              <a:t>2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142413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5"/>
          <p:cNvSpPr txBox="1">
            <a:spLocks noChangeArrowheads="1"/>
          </p:cNvSpPr>
          <p:nvPr userDrawn="1"/>
        </p:nvSpPr>
        <p:spPr bwMode="auto">
          <a:xfrm>
            <a:off x="652463" y="6205538"/>
            <a:ext cx="2193925" cy="263525"/>
          </a:xfrm>
          <a:prstGeom prst="rect">
            <a:avLst/>
          </a:prstGeom>
          <a:noFill/>
          <a:ln>
            <a:noFill/>
          </a:ln>
        </p:spPr>
        <p:txBody>
          <a:bodyPr wrap="none" lIns="78296" tIns="39147" rIns="78296" bIns="39147">
            <a:spAutoFit/>
          </a:bodyPr>
          <a:lstStyle>
            <a:lvl1pPr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1200" dirty="0">
                <a:latin typeface="FrutigerNext LT Bold" pitchFamily="20" charset="0"/>
                <a:ea typeface="MS PGothic" panose="020B0600070205080204" pitchFamily="34" charset="-128"/>
              </a:rPr>
              <a:t>Howen Technologies Co., Ltd.</a:t>
            </a:r>
            <a:endParaRPr lang="en-US" altLang="zh-CN" sz="2100" dirty="0">
              <a:latin typeface="微软雅黑" panose="020B0503020204020204" pitchFamily="34" charset="-122"/>
              <a:ea typeface="MS PGothic" panose="020B0600070205080204" pitchFamily="34" charset="-128"/>
            </a:endParaRPr>
          </a:p>
        </p:txBody>
      </p:sp>
      <p:sp>
        <p:nvSpPr>
          <p:cNvPr id="5" name="Rectangle 7"/>
          <p:cNvSpPr>
            <a:spLocks noChangeArrowheads="1"/>
          </p:cNvSpPr>
          <p:nvPr userDrawn="1"/>
        </p:nvSpPr>
        <p:spPr bwMode="auto">
          <a:xfrm>
            <a:off x="4202113" y="6205538"/>
            <a:ext cx="1528762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296" tIns="39147" rIns="78296" bIns="39147">
            <a:spAutoFit/>
          </a:bodyPr>
          <a:lstStyle/>
          <a:p>
            <a:pPr algn="l" defTabSz="784225" eaLnBrk="0" hangingPunct="0"/>
            <a:r>
              <a:rPr lang="en-US" altLang="zh-CN" sz="1200" dirty="0">
                <a:latin typeface="FrutigerNext LT Bold" pitchFamily="20" charset="0"/>
                <a:ea typeface="MS PGothic" panose="020B0600070205080204" pitchFamily="34" charset="-128"/>
              </a:rPr>
              <a:t>Howen Confidential </a:t>
            </a:r>
          </a:p>
        </p:txBody>
      </p:sp>
      <p:pic>
        <p:nvPicPr>
          <p:cNvPr id="7" name="图片 14" descr="Howen logo---without slogan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50" y="5857081"/>
            <a:ext cx="1914525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2EDE9C73-7FC8-4830-B670-93BE50080117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88D8A9D0-AE5D-4F82-8766-6282C00896C9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2300" y="1600200"/>
            <a:ext cx="39560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30750" y="1600200"/>
            <a:ext cx="39560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3B62C9CA-ADF4-4D10-B646-F8A1062BC95A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BD7F67D5-63D1-40D9-B7C1-C1DB7861A395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8517716D-1BE9-4861-8DC8-CEE4904DECDF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FAFB8531-3AEB-48C6-B20D-6EC0D217A35F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A7E389B5-5E2D-4C14-9BBA-45290E1D8115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8038EBF0-D2DB-46B2-A657-9C56FB715C69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89A25C4F-229B-4C6A-BD13-FB2EB2340775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70675" y="-100013"/>
            <a:ext cx="2016125" cy="622617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2300" y="-100013"/>
            <a:ext cx="5895975" cy="622617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E20D6C85-8005-4E9E-AE6C-991D6CFB172A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2300" y="-100013"/>
            <a:ext cx="8064500" cy="11430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22300" y="1600200"/>
            <a:ext cx="80645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565499C2-B9FE-43AC-874C-DE07B873E646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2300" y="-100013"/>
            <a:ext cx="8064500" cy="11430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2300" y="1600200"/>
            <a:ext cx="395605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30750" y="1600200"/>
            <a:ext cx="395605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F0EFA0DB-8AC0-4D79-BACF-C7A81B20EBB2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2464" y="188641"/>
            <a:ext cx="8059997" cy="617537"/>
          </a:xfrm>
        </p:spPr>
        <p:txBody>
          <a:bodyPr/>
          <a:lstStyle>
            <a:lvl1pPr algn="ctr">
              <a:defRPr sz="1800" i="0" u="none">
                <a:latin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6300192" y="6453337"/>
            <a:ext cx="7920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dirty="0">
                <a:latin typeface="+mj-lt"/>
              </a:rPr>
              <a:t>Page </a:t>
            </a:r>
            <a:fld id="{69073B6B-BE91-4210-A00A-5C62817EC609}" type="slidenum">
              <a:rPr lang="en-US" altLang="zh-CN" sz="900" b="0" dirty="0" smtClean="0">
                <a:latin typeface="+mj-lt"/>
              </a:rPr>
              <a:t>‹#›</a:t>
            </a:fld>
            <a:endParaRPr lang="zh-CN" altLang="en-US" sz="900" b="0" dirty="0">
              <a:latin typeface="+mj-lt"/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-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93"/>
          <p:cNvSpPr>
            <a:spLocks noChangeArrowheads="1"/>
          </p:cNvSpPr>
          <p:nvPr userDrawn="1"/>
        </p:nvSpPr>
        <p:spPr bwMode="auto">
          <a:xfrm>
            <a:off x="4535489" y="1376364"/>
            <a:ext cx="4465637" cy="3671887"/>
          </a:xfrm>
          <a:prstGeom prst="chevron">
            <a:avLst>
              <a:gd name="adj" fmla="val 10888"/>
            </a:avLst>
          </a:prstGeom>
          <a:solidFill>
            <a:srgbClr val="DE461C"/>
          </a:solidFill>
          <a:ln w="9525" algn="ctr">
            <a:noFill/>
            <a:rou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pPr>
              <a:defRPr/>
            </a:pPr>
            <a:endParaRPr lang="zh-CN" altLang="en-US" sz="1575">
              <a:latin typeface="FrutigerNext LT BlackCn" pitchFamily="34" charset="0"/>
              <a:ea typeface="MS PGothic" panose="020B0600070205080204" pitchFamily="34" charset="-128"/>
            </a:endParaRPr>
          </a:p>
        </p:txBody>
      </p:sp>
      <p:sp>
        <p:nvSpPr>
          <p:cNvPr id="14" name="五边形 192"/>
          <p:cNvSpPr>
            <a:spLocks noChangeArrowheads="1"/>
          </p:cNvSpPr>
          <p:nvPr userDrawn="1"/>
        </p:nvSpPr>
        <p:spPr bwMode="auto">
          <a:xfrm>
            <a:off x="611188" y="1376364"/>
            <a:ext cx="4284662" cy="3671887"/>
          </a:xfrm>
          <a:prstGeom prst="homePlate">
            <a:avLst>
              <a:gd name="adj" fmla="val 12225"/>
            </a:avLst>
          </a:prstGeom>
          <a:solidFill>
            <a:srgbClr val="C02110"/>
          </a:solidFill>
          <a:ln w="9525" algn="ctr">
            <a:noFill/>
            <a:rou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>
              <a:defRPr/>
            </a:pPr>
            <a:endParaRPr lang="zh-CN" altLang="en-US" sz="2550" dirty="0">
              <a:solidFill>
                <a:schemeClr val="bg1"/>
              </a:solidFill>
              <a:latin typeface="FrutigerNext LT BlackCn" pitchFamily="34" charset="0"/>
              <a:ea typeface="MS PGothic" panose="020B0600070205080204" pitchFamily="34" charset="-128"/>
            </a:endParaRPr>
          </a:p>
        </p:txBody>
      </p:sp>
      <p:sp>
        <p:nvSpPr>
          <p:cNvPr id="15" name="矩形 194"/>
          <p:cNvSpPr>
            <a:spLocks noChangeArrowheads="1"/>
          </p:cNvSpPr>
          <p:nvPr userDrawn="1"/>
        </p:nvSpPr>
        <p:spPr bwMode="auto">
          <a:xfrm>
            <a:off x="0" y="1376364"/>
            <a:ext cx="539750" cy="3671887"/>
          </a:xfrm>
          <a:prstGeom prst="rect">
            <a:avLst/>
          </a:prstGeom>
          <a:solidFill>
            <a:srgbClr val="980000"/>
          </a:solidFill>
          <a:ln w="9525" algn="ctr">
            <a:noFill/>
            <a:rou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pPr>
              <a:defRPr/>
            </a:pPr>
            <a:endParaRPr lang="zh-CN" altLang="en-US" sz="1575">
              <a:latin typeface="FrutigerNext LT BlackCn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5773250" y="6084004"/>
            <a:ext cx="3294366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1350" b="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Safeguard Global Driver &amp; Fleet!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678233" y="5373216"/>
            <a:ext cx="1484401" cy="720632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439652" y="2708920"/>
            <a:ext cx="6547829" cy="617537"/>
          </a:xfrm>
          <a:prstGeom prst="round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E1261D"/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>
            <a:lvl1pPr algn="ctr">
              <a:defRPr sz="1800" b="0" i="0" u="none">
                <a:latin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框 2"/>
          <p:cNvSpPr txBox="1"/>
          <p:nvPr userDrawn="1"/>
        </p:nvSpPr>
        <p:spPr>
          <a:xfrm>
            <a:off x="4175956" y="6453337"/>
            <a:ext cx="792088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9073B6B-BE91-4210-A00A-5C62817EC609}" type="slidenum">
              <a:rPr lang="en-US" altLang="zh-CN" sz="900" b="0" smtClean="0">
                <a:latin typeface="+mj-lt"/>
              </a:rPr>
              <a:t>‹#›</a:t>
            </a:fld>
            <a:endParaRPr lang="zh-CN" altLang="en-US" sz="900" b="0" dirty="0">
              <a:latin typeface="+mj-lt"/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784225"/>
            <a:ext cx="9142412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5"/>
          <p:cNvSpPr txBox="1">
            <a:spLocks noChangeArrowheads="1"/>
          </p:cNvSpPr>
          <p:nvPr userDrawn="1"/>
        </p:nvSpPr>
        <p:spPr bwMode="auto">
          <a:xfrm>
            <a:off x="652463" y="6205538"/>
            <a:ext cx="2236787" cy="263525"/>
          </a:xfrm>
          <a:prstGeom prst="rect">
            <a:avLst/>
          </a:prstGeom>
          <a:noFill/>
          <a:ln>
            <a:noFill/>
          </a:ln>
        </p:spPr>
        <p:txBody>
          <a:bodyPr wrap="none" lIns="78296" tIns="39147" rIns="78296" bIns="39147">
            <a:spAutoFit/>
          </a:bodyPr>
          <a:lstStyle>
            <a:lvl1pPr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1200" dirty="0">
                <a:latin typeface="FrutigerNext LT Bold" pitchFamily="20" charset="0"/>
                <a:ea typeface="MS PGothic" panose="020B0600070205080204" pitchFamily="34" charset="-128"/>
              </a:rPr>
              <a:t>Howen Technologies  Co., Ltd.</a:t>
            </a:r>
            <a:endParaRPr lang="en-US" altLang="zh-CN" sz="2100" dirty="0">
              <a:latin typeface="微软雅黑" panose="020B0503020204020204" pitchFamily="34" charset="-122"/>
              <a:ea typeface="MS PGothic" panose="020B0600070205080204" pitchFamily="34" charset="-128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 userDrawn="1"/>
        </p:nvSpPr>
        <p:spPr bwMode="auto">
          <a:xfrm>
            <a:off x="7056438" y="3265488"/>
            <a:ext cx="2087562" cy="325437"/>
          </a:xfrm>
          <a:prstGeom prst="rect">
            <a:avLst/>
          </a:prstGeom>
          <a:noFill/>
          <a:ln>
            <a:noFill/>
          </a:ln>
        </p:spPr>
        <p:txBody>
          <a:bodyPr lIns="91394" tIns="45696" rIns="91394" bIns="45696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1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www.Howen.com</a:t>
            </a: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auto">
          <a:xfrm>
            <a:off x="4202113" y="6205538"/>
            <a:ext cx="1528762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296" tIns="39147" rIns="78296" bIns="39147">
            <a:spAutoFit/>
          </a:bodyPr>
          <a:lstStyle/>
          <a:p>
            <a:pPr algn="l" defTabSz="784225" eaLnBrk="0" hangingPunct="0"/>
            <a:r>
              <a:rPr lang="en-US" altLang="zh-CN" sz="1200" dirty="0">
                <a:latin typeface="FrutigerNext LT Bold" pitchFamily="20" charset="0"/>
                <a:ea typeface="MS PGothic" panose="020B0600070205080204" pitchFamily="34" charset="-128"/>
              </a:rPr>
              <a:t>Howen Confidential </a:t>
            </a:r>
          </a:p>
        </p:txBody>
      </p:sp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783513" y="325438"/>
            <a:ext cx="536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296" tIns="39147" rIns="78296" bIns="39147">
            <a:spAutoFit/>
          </a:bodyPr>
          <a:lstStyle/>
          <a:p>
            <a:pPr algn="l" defTabSz="784225" eaLnBrk="0" hangingPunct="0"/>
            <a:r>
              <a:rPr lang="zh-CN" altLang="en-US" sz="1500">
                <a:solidFill>
                  <a:srgbClr val="666666"/>
                </a:solidFill>
                <a:latin typeface="FrutigerNext LT Regular" pitchFamily="34" charset="0"/>
                <a:ea typeface="MS PGothic" panose="020B0600070205080204" pitchFamily="34" charset="-128"/>
              </a:rPr>
              <a:t>绝密</a:t>
            </a:r>
          </a:p>
        </p:txBody>
      </p:sp>
      <p:pic>
        <p:nvPicPr>
          <p:cNvPr id="8" name="图片 14" descr="Howen logo---without slogan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943600"/>
            <a:ext cx="1914525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3D44DBFB-868A-46E5-9D69-212D2C74E075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B73E3480-9C39-4D39-85F4-85397489481B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2300" y="1600200"/>
            <a:ext cx="39560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30750" y="1600200"/>
            <a:ext cx="39560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66DCE4CB-BABA-4D70-8A50-59813A1FF09F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8F47B0A5-20E6-4C1A-A828-7A145E6544A3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5C8494A6-5F12-4E34-BE16-2E8F6BF01B41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6D8AEC39-27FC-49D4-B004-34768CDA4C4B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C0FC5199-C92F-4005-9A56-8068803CB137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ED01FDC7-3D13-481B-B65D-E258FB3A3DAA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963DE594-8CBF-4B89-ABB9-7C04F3167D41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70675" y="-100013"/>
            <a:ext cx="2016125" cy="622617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2300" y="-100013"/>
            <a:ext cx="5895975" cy="622617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63FEF23B-2B7E-4320-AED9-61EF78B24AA0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 userDrawn="1"/>
        </p:nvSpPr>
        <p:spPr bwMode="auto">
          <a:xfrm>
            <a:off x="652463" y="6205538"/>
            <a:ext cx="2193925" cy="263525"/>
          </a:xfrm>
          <a:prstGeom prst="rect">
            <a:avLst/>
          </a:prstGeom>
          <a:noFill/>
          <a:ln>
            <a:noFill/>
          </a:ln>
        </p:spPr>
        <p:txBody>
          <a:bodyPr wrap="none" lIns="78309" tIns="39153" rIns="78309" bIns="39153">
            <a:spAutoFit/>
          </a:bodyPr>
          <a:lstStyle>
            <a:lvl1pPr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1200" dirty="0">
                <a:latin typeface="FrutigerNext LT Bold" pitchFamily="20" charset="0"/>
                <a:ea typeface="MS PGothic" panose="020B0600070205080204" pitchFamily="34" charset="-128"/>
              </a:rPr>
              <a:t>Howen Technologies Co., Ltd.</a:t>
            </a:r>
            <a:endParaRPr lang="en-US" altLang="zh-CN" sz="2100" dirty="0">
              <a:latin typeface="微软雅黑" panose="020B0503020204020204" pitchFamily="34" charset="-122"/>
              <a:ea typeface="MS PGothic" panose="020B0600070205080204" pitchFamily="34" charset="-128"/>
            </a:endParaRPr>
          </a:p>
        </p:txBody>
      </p:sp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4202113" y="6205538"/>
            <a:ext cx="14859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309" tIns="39153" rIns="78309" bIns="39153">
            <a:spAutoFit/>
          </a:bodyPr>
          <a:lstStyle/>
          <a:p>
            <a:pPr algn="l" defTabSz="784225" eaLnBrk="0" hangingPunct="0"/>
            <a:r>
              <a:rPr lang="en-US" altLang="zh-CN" sz="1200" dirty="0">
                <a:latin typeface="FrutigerNext LT Bold" pitchFamily="20" charset="0"/>
                <a:ea typeface="MS PGothic" panose="020B0600070205080204" pitchFamily="34" charset="-128"/>
              </a:rPr>
              <a:t>Howen Confidential</a:t>
            </a:r>
          </a:p>
        </p:txBody>
      </p:sp>
      <p:pic>
        <p:nvPicPr>
          <p:cNvPr id="5" name="图片 14" descr="Howen logo---without slogan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943600"/>
            <a:ext cx="1914525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FA4DC876-C663-4258-BFD0-FD4FBDBF26DE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E6DA2D4E-3A2B-4C03-A69E-A5BDB5362CBE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3" y="981075"/>
            <a:ext cx="3956050" cy="5054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08563" y="981075"/>
            <a:ext cx="3956050" cy="5054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240B0E0D-DD3E-4DCD-8DC6-5921887A2524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8B55BE15-B4F8-4738-81A5-B4AFAD1A2A73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6F006DA4-6C61-4B69-AAFF-82450C882456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D6ECC2F4-7779-4F16-82FD-F09681144DC2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DB4BF490-E66B-4AA4-931B-5997A4B6B440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E49D6706-C05E-4EF1-9521-773190068F1A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EA5DD788-694D-45CF-B87F-77B28DA7ECD3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38950" y="274638"/>
            <a:ext cx="2125663" cy="5761037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229350" cy="57610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AD4EEFE2-E442-4626-ABDE-59869B41DD43}" type="slidenum">
              <a:rPr lang="de-DE" altLang="zh-CN"/>
              <a:t>‹#›</a:t>
            </a:fld>
            <a:endParaRPr lang="en-GB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6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0" y="-100013"/>
            <a:ext cx="80645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296" tIns="39147" rIns="78296" bIns="39147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1600200"/>
            <a:ext cx="80645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296" tIns="39147" rIns="78296" bIns="39147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28" name="Picture 4" descr="7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00800"/>
            <a:ext cx="9142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652463" y="6465888"/>
            <a:ext cx="2193925" cy="263525"/>
          </a:xfrm>
          <a:prstGeom prst="rect">
            <a:avLst/>
          </a:prstGeom>
          <a:noFill/>
          <a:ln>
            <a:noFill/>
          </a:ln>
        </p:spPr>
        <p:txBody>
          <a:bodyPr wrap="none" lIns="78302" tIns="39153" rIns="78302" bIns="39153">
            <a:spAutoFit/>
          </a:bodyPr>
          <a:lstStyle>
            <a:lvl1pPr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1200" dirty="0">
                <a:latin typeface="FrutigerNext LT Bold" pitchFamily="20" charset="0"/>
                <a:ea typeface="MS PGothic" panose="020B0600070205080204" pitchFamily="34" charset="-128"/>
              </a:rPr>
              <a:t>Howen Technologies Co., Ltd.</a:t>
            </a:r>
            <a:endParaRPr lang="en-US" altLang="zh-CN" sz="2100" dirty="0">
              <a:latin typeface="微软雅黑" panose="020B0503020204020204" pitchFamily="34" charset="-122"/>
              <a:ea typeface="MS PGothic" panose="020B0600070205080204" pitchFamily="34" charset="-128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29313" y="6400800"/>
            <a:ext cx="1057275" cy="1101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t" anchorCtr="0" compatLnSpc="1"/>
          <a:lstStyle>
            <a:lvl1pPr algn="l" eaLnBrk="0" hangingPunct="0">
              <a:lnSpc>
                <a:spcPct val="85000"/>
              </a:lnSpc>
              <a:defRPr sz="1000">
                <a:latin typeface="FrutigerNext LT Medium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50F9C3EC-BE5F-44D2-A543-8FF5FC4BEA49}" type="slidenum">
              <a:rPr lang="de-DE" altLang="zh-CN"/>
              <a:t>‹#›</a:t>
            </a:fld>
            <a:endParaRPr lang="en-GB" altLang="zh-CN" dirty="0"/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3660775" y="6467475"/>
            <a:ext cx="1528763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296" tIns="39147" rIns="78296" bIns="39147">
            <a:spAutoFit/>
          </a:bodyPr>
          <a:lstStyle/>
          <a:p>
            <a:pPr algn="l" defTabSz="784225" eaLnBrk="0" hangingPunct="0"/>
            <a:r>
              <a:rPr lang="en-US" altLang="zh-CN" sz="1200" dirty="0">
                <a:latin typeface="FrutigerNext LT Bold" pitchFamily="20" charset="0"/>
                <a:ea typeface="MS PGothic" panose="020B0600070205080204" pitchFamily="34" charset="-128"/>
              </a:rPr>
              <a:t>Howen Confidential </a:t>
            </a:r>
          </a:p>
        </p:txBody>
      </p:sp>
      <p:sp>
        <p:nvSpPr>
          <p:cNvPr id="1032" name="Line 9"/>
          <p:cNvSpPr>
            <a:spLocks noChangeShapeType="1"/>
          </p:cNvSpPr>
          <p:nvPr/>
        </p:nvSpPr>
        <p:spPr bwMode="auto">
          <a:xfrm>
            <a:off x="534988" y="835025"/>
            <a:ext cx="8021637" cy="0"/>
          </a:xfrm>
          <a:prstGeom prst="line">
            <a:avLst/>
          </a:prstGeom>
          <a:noFill/>
          <a:ln w="28575">
            <a:solidFill>
              <a:srgbClr val="99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33" name="图片 14" descr="Howen logo---without slogan.jpg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063" y="6467475"/>
            <a:ext cx="957262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/>
  <p:txStyles>
    <p:titleStyle>
      <a:lvl1pPr algn="l" defTabSz="784225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784225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defTabSz="784225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defTabSz="784225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defTabSz="784225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defTabSz="784225" rtl="0" fontAlgn="base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defTabSz="784225" rtl="0" fontAlgn="base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defTabSz="784225" rtl="0" fontAlgn="base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defTabSz="784225" rtl="0" fontAlgn="base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2730" indent="-252730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•"/>
        <a:defRPr sz="1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46100" indent="-209550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9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840105" indent="-168275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•"/>
        <a:defRPr sz="19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174750" indent="-168275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9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1510030" indent="-167005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»"/>
        <a:defRPr sz="19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967230" indent="-167005" algn="l" defTabSz="671830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6pPr>
      <a:lvl7pPr marL="2424430" indent="-167005" algn="l" defTabSz="671830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7pPr>
      <a:lvl8pPr marL="2881630" indent="-167005" algn="l" defTabSz="671830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8pPr>
      <a:lvl9pPr marL="3338830" indent="-167005" algn="l" defTabSz="671830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0" y="-100013"/>
            <a:ext cx="80645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296" tIns="39147" rIns="78296" bIns="39147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1600200"/>
            <a:ext cx="80645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296" tIns="39147" rIns="78296" bIns="39147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2052" name="Picture 4" descr="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00800"/>
            <a:ext cx="9142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652463" y="6465888"/>
            <a:ext cx="2236787" cy="263525"/>
          </a:xfrm>
          <a:prstGeom prst="rect">
            <a:avLst/>
          </a:prstGeom>
          <a:noFill/>
          <a:ln>
            <a:noFill/>
          </a:ln>
        </p:spPr>
        <p:txBody>
          <a:bodyPr wrap="none" lIns="78302" tIns="39153" rIns="78302" bIns="39153">
            <a:spAutoFit/>
          </a:bodyPr>
          <a:lstStyle>
            <a:lvl1pPr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1200" dirty="0">
                <a:latin typeface="FrutigerNext LT Bold" pitchFamily="20" charset="0"/>
                <a:ea typeface="MS PGothic" panose="020B0600070205080204" pitchFamily="34" charset="-128"/>
              </a:rPr>
              <a:t>Howen Technologies  Co., Ltd.</a:t>
            </a:r>
            <a:endParaRPr lang="en-US" altLang="zh-CN" sz="2100" dirty="0">
              <a:latin typeface="微软雅黑" panose="020B0503020204020204" pitchFamily="34" charset="-122"/>
              <a:ea typeface="MS PGothic" panose="020B0600070205080204" pitchFamily="34" charset="-128"/>
            </a:endParaRP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29313" y="6400800"/>
            <a:ext cx="1057275" cy="1101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t" anchorCtr="0" compatLnSpc="1"/>
          <a:lstStyle>
            <a:lvl1pPr algn="l" eaLnBrk="0" hangingPunct="0">
              <a:lnSpc>
                <a:spcPct val="85000"/>
              </a:lnSpc>
              <a:defRPr sz="1000">
                <a:latin typeface="FrutigerNext LT Medium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2002F4D1-5ACB-4874-BAC4-F5749341BD1F}" type="slidenum">
              <a:rPr lang="de-DE" altLang="zh-CN"/>
              <a:t>‹#›</a:t>
            </a:fld>
            <a:endParaRPr lang="en-GB" altLang="zh-CN" dirty="0"/>
          </a:p>
        </p:txBody>
      </p:sp>
      <p:sp>
        <p:nvSpPr>
          <p:cNvPr id="2055" name="Rectangle 8"/>
          <p:cNvSpPr>
            <a:spLocks noChangeArrowheads="1"/>
          </p:cNvSpPr>
          <p:nvPr/>
        </p:nvSpPr>
        <p:spPr bwMode="auto">
          <a:xfrm>
            <a:off x="3660775" y="6467475"/>
            <a:ext cx="1528763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296" tIns="39147" rIns="78296" bIns="39147">
            <a:spAutoFit/>
          </a:bodyPr>
          <a:lstStyle/>
          <a:p>
            <a:pPr algn="l" defTabSz="784225" eaLnBrk="0" hangingPunct="0"/>
            <a:r>
              <a:rPr lang="en-US" altLang="zh-CN" sz="1200" dirty="0">
                <a:latin typeface="FrutigerNext LT Bold" pitchFamily="20" charset="0"/>
                <a:ea typeface="MS PGothic" panose="020B0600070205080204" pitchFamily="34" charset="-128"/>
              </a:rPr>
              <a:t>Howen Confidential </a:t>
            </a:r>
          </a:p>
        </p:txBody>
      </p:sp>
      <p:sp>
        <p:nvSpPr>
          <p:cNvPr id="2056" name="Line 9"/>
          <p:cNvSpPr>
            <a:spLocks noChangeShapeType="1"/>
          </p:cNvSpPr>
          <p:nvPr/>
        </p:nvSpPr>
        <p:spPr bwMode="auto">
          <a:xfrm>
            <a:off x="534988" y="835025"/>
            <a:ext cx="8021637" cy="0"/>
          </a:xfrm>
          <a:prstGeom prst="line">
            <a:avLst/>
          </a:prstGeom>
          <a:noFill/>
          <a:ln w="28575">
            <a:solidFill>
              <a:srgbClr val="99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7" name="图片 14" descr="Howen logo---without slogan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888" y="6400800"/>
            <a:ext cx="1077912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sldNum="0" hdr="0" ftr="0"/>
  <p:txStyles>
    <p:titleStyle>
      <a:lvl1pPr algn="l" defTabSz="784225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784225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defTabSz="784225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defTabSz="784225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defTabSz="784225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defTabSz="784225" rtl="0" fontAlgn="base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defTabSz="784225" rtl="0" fontAlgn="base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defTabSz="784225" rtl="0" fontAlgn="base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defTabSz="784225" rtl="0" fontAlgn="base">
        <a:spcBef>
          <a:spcPct val="0"/>
        </a:spcBef>
        <a:spcAft>
          <a:spcPct val="0"/>
        </a:spcAft>
        <a:defRPr sz="2400" b="1">
          <a:solidFill>
            <a:srgbClr val="8000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2730" indent="-252730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•"/>
        <a:defRPr sz="1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46100" indent="-209550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9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840105" indent="-168275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•"/>
        <a:defRPr sz="19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174750" indent="-168275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9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1510030" indent="-167005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»"/>
        <a:defRPr sz="19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967230" indent="-167005" algn="l" defTabSz="671830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6pPr>
      <a:lvl7pPr marL="2424430" indent="-167005" algn="l" defTabSz="671830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7pPr>
      <a:lvl8pPr marL="2881630" indent="-167005" algn="l" defTabSz="671830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8pPr>
      <a:lvl9pPr marL="3338830" indent="-167005" algn="l" defTabSz="671830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981075"/>
            <a:ext cx="8064500" cy="50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309" tIns="39153" rIns="78309" bIns="39153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3075" name="Picture 3" descr="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00800"/>
            <a:ext cx="9142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652463" y="6465888"/>
            <a:ext cx="2193925" cy="263525"/>
          </a:xfrm>
          <a:prstGeom prst="rect">
            <a:avLst/>
          </a:prstGeom>
          <a:noFill/>
          <a:ln>
            <a:noFill/>
          </a:ln>
        </p:spPr>
        <p:txBody>
          <a:bodyPr wrap="none" lIns="78315" tIns="39159" rIns="78315" bIns="39159">
            <a:spAutoFit/>
          </a:bodyPr>
          <a:lstStyle>
            <a:lvl1pPr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842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7842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en-US" altLang="zh-CN" sz="1200" dirty="0">
                <a:latin typeface="FrutigerNext LT Bold" pitchFamily="20" charset="0"/>
                <a:ea typeface="MS PGothic" panose="020B0600070205080204" pitchFamily="34" charset="-128"/>
              </a:rPr>
              <a:t>Howen Technologies Co., Ltd.</a:t>
            </a:r>
            <a:endParaRPr lang="en-US" altLang="zh-CN" sz="2100" dirty="0">
              <a:latin typeface="微软雅黑" panose="020B0503020204020204" pitchFamily="34" charset="-122"/>
              <a:ea typeface="MS PGothic" panose="020B0600070205080204" pitchFamily="34" charset="-128"/>
            </a:endParaRPr>
          </a:p>
        </p:txBody>
      </p:sp>
      <p:sp>
        <p:nvSpPr>
          <p:cNvPr id="21197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29313" y="6400800"/>
            <a:ext cx="1057275" cy="1101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t" anchorCtr="0" compatLnSpc="1"/>
          <a:lstStyle>
            <a:lvl1pPr algn="l" eaLnBrk="0" hangingPunct="0">
              <a:lnSpc>
                <a:spcPct val="85000"/>
              </a:lnSpc>
              <a:defRPr sz="1000">
                <a:latin typeface="FrutigerNext LT Medium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E82F0AC6-64B2-4579-B65E-30B7BF6BFB26}" type="slidenum">
              <a:rPr lang="de-DE" altLang="zh-CN"/>
              <a:t>‹#›</a:t>
            </a:fld>
            <a:endParaRPr lang="en-GB" altLang="zh-CN" dirty="0"/>
          </a:p>
        </p:txBody>
      </p:sp>
      <p:sp>
        <p:nvSpPr>
          <p:cNvPr id="3078" name="Rectangle 7"/>
          <p:cNvSpPr>
            <a:spLocks noChangeArrowheads="1"/>
          </p:cNvSpPr>
          <p:nvPr/>
        </p:nvSpPr>
        <p:spPr bwMode="auto">
          <a:xfrm>
            <a:off x="3660775" y="6467475"/>
            <a:ext cx="1528763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309" tIns="39153" rIns="78309" bIns="39153">
            <a:spAutoFit/>
          </a:bodyPr>
          <a:lstStyle/>
          <a:p>
            <a:pPr algn="l" defTabSz="784225" eaLnBrk="0" hangingPunct="0"/>
            <a:r>
              <a:rPr lang="en-US" altLang="zh-CN" sz="1200" dirty="0">
                <a:latin typeface="FrutigerNext LT Bold" pitchFamily="20" charset="0"/>
                <a:ea typeface="MS PGothic" panose="020B0600070205080204" pitchFamily="34" charset="-128"/>
              </a:rPr>
              <a:t>Howen Confidential </a:t>
            </a:r>
          </a:p>
        </p:txBody>
      </p:sp>
      <p:sp>
        <p:nvSpPr>
          <p:cNvPr id="3079" name="Rectangle 8"/>
          <p:cNvSpPr>
            <a:spLocks noChangeArrowheads="1"/>
          </p:cNvSpPr>
          <p:nvPr/>
        </p:nvSpPr>
        <p:spPr bwMode="auto">
          <a:xfrm>
            <a:off x="0" y="637345"/>
            <a:ext cx="9142413" cy="382661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82800" bIns="82800" anchor="ctr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0" name="Line 9"/>
          <p:cNvSpPr>
            <a:spLocks noChangeShapeType="1"/>
          </p:cNvSpPr>
          <p:nvPr/>
        </p:nvSpPr>
        <p:spPr bwMode="auto">
          <a:xfrm>
            <a:off x="0" y="1557338"/>
            <a:ext cx="9144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tIns="82800" bIns="8280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1" name="Line 10"/>
          <p:cNvSpPr>
            <a:spLocks noChangeShapeType="1"/>
          </p:cNvSpPr>
          <p:nvPr/>
        </p:nvSpPr>
        <p:spPr bwMode="auto">
          <a:xfrm>
            <a:off x="1181100" y="992188"/>
            <a:ext cx="0" cy="7366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tIns="82800" bIns="8280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2" name="Freeform 11"/>
          <p:cNvSpPr/>
          <p:nvPr/>
        </p:nvSpPr>
        <p:spPr bwMode="auto">
          <a:xfrm>
            <a:off x="995363" y="896108"/>
            <a:ext cx="381000" cy="382661"/>
          </a:xfrm>
          <a:custGeom>
            <a:avLst/>
            <a:gdLst>
              <a:gd name="T0" fmla="*/ 0 w 240"/>
              <a:gd name="T1" fmla="*/ 0 h 120"/>
              <a:gd name="T2" fmla="*/ 2147483647 w 240"/>
              <a:gd name="T3" fmla="*/ 2147483647 h 120"/>
              <a:gd name="T4" fmla="*/ 2147483647 w 240"/>
              <a:gd name="T5" fmla="*/ 0 h 120"/>
              <a:gd name="T6" fmla="*/ 0 w 240"/>
              <a:gd name="T7" fmla="*/ 0 h 1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40" h="120">
                <a:moveTo>
                  <a:pt x="0" y="0"/>
                </a:moveTo>
                <a:lnTo>
                  <a:pt x="120" y="120"/>
                </a:lnTo>
                <a:lnTo>
                  <a:pt x="24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tIns="82800" bIns="82800" anchor="ctr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1980" name="Rectangle 12"/>
          <p:cNvSpPr>
            <a:spLocks noChangeArrowheads="1"/>
          </p:cNvSpPr>
          <p:nvPr/>
        </p:nvSpPr>
        <p:spPr bwMode="auto">
          <a:xfrm>
            <a:off x="-3175" y="0"/>
            <a:ext cx="9145588" cy="792163"/>
          </a:xfrm>
          <a:prstGeom prst="rect">
            <a:avLst/>
          </a:prstGeom>
          <a:solidFill>
            <a:srgbClr val="D4DBF0"/>
          </a:solidFill>
          <a:ln w="9525" algn="ctr">
            <a:noFill/>
            <a:miter lim="800000"/>
          </a:ln>
          <a:effectLst/>
        </p:spPr>
        <p:txBody>
          <a:bodyPr tIns="82800" bIns="82800" anchor="ctr"/>
          <a:lstStyle/>
          <a:p>
            <a:pPr marL="292100" indent="-292100">
              <a:buClr>
                <a:srgbClr val="0000CC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en-US" sz="2400" b="1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4" name="Text Box 13"/>
          <p:cNvSpPr txBox="1">
            <a:spLocks noChangeArrowheads="1"/>
          </p:cNvSpPr>
          <p:nvPr/>
        </p:nvSpPr>
        <p:spPr bwMode="auto">
          <a:xfrm>
            <a:off x="7700963" y="-44450"/>
            <a:ext cx="1550987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1"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文档密级：机密</a:t>
            </a:r>
          </a:p>
        </p:txBody>
      </p:sp>
      <p:pic>
        <p:nvPicPr>
          <p:cNvPr id="3085" name="图片 14" descr="Howen logo---without slogan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963" y="6423025"/>
            <a:ext cx="957262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sldNum="0" hdr="0" ftr="0"/>
  <p:txStyles>
    <p:titleStyle>
      <a:lvl1pPr algn="l" defTabSz="784225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+mj-lt"/>
          <a:ea typeface="+mj-ea"/>
          <a:cs typeface="+mj-cs"/>
        </a:defRPr>
      </a:lvl1pPr>
      <a:lvl2pPr algn="l" defTabSz="784225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defTabSz="784225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defTabSz="784225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defTabSz="784225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defTabSz="784225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defTabSz="784225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defTabSz="784225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defTabSz="784225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2730" indent="-252730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•"/>
        <a:defRPr sz="32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46100" indent="-209550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2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840105" indent="-168275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•"/>
        <a:defRPr sz="2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174750" indent="-168275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1510030" indent="-167005" algn="l" defTabSz="671830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»"/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967230" indent="-167005" algn="l" defTabSz="671830" rtl="0" fontAlgn="base">
        <a:lnSpc>
          <a:spcPct val="140000"/>
        </a:lnSpc>
        <a:spcBef>
          <a:spcPct val="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</a:defRPr>
      </a:lvl6pPr>
      <a:lvl7pPr marL="2424430" indent="-167005" algn="l" defTabSz="671830" rtl="0" fontAlgn="base">
        <a:lnSpc>
          <a:spcPct val="140000"/>
        </a:lnSpc>
        <a:spcBef>
          <a:spcPct val="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</a:defRPr>
      </a:lvl7pPr>
      <a:lvl8pPr marL="2881630" indent="-167005" algn="l" defTabSz="671830" rtl="0" fontAlgn="base">
        <a:lnSpc>
          <a:spcPct val="140000"/>
        </a:lnSpc>
        <a:spcBef>
          <a:spcPct val="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</a:defRPr>
      </a:lvl8pPr>
      <a:lvl9pPr marL="3338830" indent="-167005" algn="l" defTabSz="671830" rtl="0" fontAlgn="base">
        <a:lnSpc>
          <a:spcPct val="140000"/>
        </a:lnSpc>
        <a:spcBef>
          <a:spcPct val="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9605" y="2727325"/>
            <a:ext cx="4474210" cy="20669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defRPr/>
            </a:pPr>
            <a:r>
              <a:rPr lang="zh-CN" altLang="en-US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测试部门</a:t>
            </a:r>
            <a:r>
              <a:rPr lang="en-US" altLang="zh-CN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VSS</a:t>
            </a:r>
            <a:r>
              <a:rPr lang="zh-CN" altLang="en-US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年终总结</a:t>
            </a:r>
            <a:endParaRPr lang="en-US" altLang="zh-CN" sz="36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defRPr/>
            </a:pPr>
            <a:endParaRPr lang="en-US" altLang="zh-CN" sz="2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defRPr/>
            </a:pPr>
            <a:endParaRPr lang="en-US" altLang="zh-CN" sz="2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defRPr/>
            </a:pPr>
            <a:r>
              <a:rPr lang="en-US" altLang="zh-CN" sz="2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xxx</a:t>
            </a:r>
          </a:p>
          <a:p>
            <a:pPr>
              <a:defRPr/>
            </a:pPr>
            <a:r>
              <a:rPr lang="en-US" altLang="zh-CN" sz="2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2024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30488" y="3429000"/>
            <a:ext cx="742826" cy="7428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71987" y="3443883"/>
            <a:ext cx="742826" cy="74282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0538" y="2477772"/>
            <a:ext cx="742826" cy="74282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751" y="2543811"/>
            <a:ext cx="538288" cy="53828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8425" y="2426454"/>
            <a:ext cx="742826" cy="74282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0301" y="3462312"/>
            <a:ext cx="633998" cy="63399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接连接符 51"/>
          <p:cNvCxnSpPr/>
          <p:nvPr/>
        </p:nvCxnSpPr>
        <p:spPr bwMode="auto">
          <a:xfrm flipV="1">
            <a:off x="2608449" y="10931192"/>
            <a:ext cx="806779" cy="564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412" name="Text Box 538"/>
          <p:cNvSpPr txBox="1"/>
          <p:nvPr/>
        </p:nvSpPr>
        <p:spPr>
          <a:xfrm>
            <a:off x="468313" y="214313"/>
            <a:ext cx="7920037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kumimoji="1" lang="zh-CN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</a:t>
            </a:r>
          </a:p>
        </p:txBody>
      </p:sp>
      <p:sp>
        <p:nvSpPr>
          <p:cNvPr id="566274" name="Text Box 2"/>
          <p:cNvSpPr txBox="1">
            <a:spLocks noChangeArrowheads="1"/>
          </p:cNvSpPr>
          <p:nvPr/>
        </p:nvSpPr>
        <p:spPr bwMode="auto">
          <a:xfrm>
            <a:off x="2400300" y="1558290"/>
            <a:ext cx="4819650" cy="304609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1" lang="en-US" altLang="zh-CN" i="0" u="none" strike="noStrike" kern="1200" cap="none" spc="0" normalizeH="0" baseline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</a:t>
            </a:r>
            <a:r>
              <a:rPr kumimoji="1" lang="zh-CN" altLang="en-US" i="0" u="none" strike="noStrike" kern="1200" cap="none" spc="0" normalizeH="0" baseline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年度规划回顾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1" lang="en-US" altLang="zh-CN" i="0" u="none" strike="noStrike" kern="1200" cap="none" spc="0" normalizeH="0" baseline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</a:t>
            </a:r>
            <a:r>
              <a:rPr kumimoji="1" lang="zh-CN" altLang="en-US" i="0" u="none" strike="noStrike" kern="1200" cap="none" spc="0" normalizeH="0" baseline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年度工作情况总结</a:t>
            </a: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1" lang="en-US" altLang="zh-CN" i="0" u="none" strike="noStrike" kern="1200" cap="none" spc="0" normalizeH="0" baseline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</a:t>
            </a:r>
            <a:r>
              <a:rPr kumimoji="1" lang="zh-CN" altLang="en-US" i="0" u="none" strike="noStrike" kern="1200" cap="none" spc="0" normalizeH="0" baseline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年度团队管理总结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1" lang="zh-CN" altLang="en-US" i="0" u="none" strike="noStrike" kern="1200" cap="none" spc="0" normalizeH="0" baseline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问题与反思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7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直接连接符 63"/>
          <p:cNvCxnSpPr/>
          <p:nvPr/>
        </p:nvCxnSpPr>
        <p:spPr bwMode="auto">
          <a:xfrm>
            <a:off x="5723420" y="1300416"/>
            <a:ext cx="0" cy="4812129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 bwMode="auto">
          <a:xfrm>
            <a:off x="536076" y="1328564"/>
            <a:ext cx="3810" cy="4730445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 bwMode="auto">
          <a:xfrm>
            <a:off x="1180859" y="1300416"/>
            <a:ext cx="0" cy="4812129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 bwMode="auto">
          <a:xfrm>
            <a:off x="1832621" y="1300416"/>
            <a:ext cx="0" cy="4812129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 bwMode="auto">
          <a:xfrm>
            <a:off x="2480041" y="1300416"/>
            <a:ext cx="7901" cy="4812129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 bwMode="auto">
          <a:xfrm>
            <a:off x="3129554" y="1300416"/>
            <a:ext cx="0" cy="4812129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 bwMode="auto">
          <a:xfrm flipH="1">
            <a:off x="3773889" y="1302878"/>
            <a:ext cx="169" cy="4812129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 bwMode="auto">
          <a:xfrm flipH="1">
            <a:off x="4411274" y="1300416"/>
            <a:ext cx="13478" cy="4812129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 bwMode="auto">
          <a:xfrm>
            <a:off x="5074954" y="1328564"/>
            <a:ext cx="0" cy="4812129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 bwMode="auto">
          <a:xfrm>
            <a:off x="6371887" y="1300416"/>
            <a:ext cx="0" cy="4812129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 bwMode="auto">
          <a:xfrm>
            <a:off x="7020353" y="1300416"/>
            <a:ext cx="0" cy="4812129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 bwMode="auto">
          <a:xfrm flipH="1">
            <a:off x="7668816" y="1300416"/>
            <a:ext cx="373" cy="4812129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 bwMode="auto">
          <a:xfrm>
            <a:off x="8342710" y="1301122"/>
            <a:ext cx="1565" cy="4811261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右箭头 2"/>
          <p:cNvSpPr/>
          <p:nvPr/>
        </p:nvSpPr>
        <p:spPr bwMode="auto">
          <a:xfrm>
            <a:off x="535688" y="1070776"/>
            <a:ext cx="8154906" cy="324036"/>
          </a:xfrm>
          <a:prstGeom prst="rightArrow">
            <a:avLst>
              <a:gd name="adj1" fmla="val 50000"/>
              <a:gd name="adj2" fmla="val 61905"/>
            </a:avLst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4041" tIns="22020" rIns="44041" bIns="22020" numCol="1" rtlCol="0" anchor="ctr" anchorCtr="0" compatLnSpc="1"/>
          <a:lstStyle/>
          <a:p>
            <a:endParaRPr lang="zh-CN" altLang="en-US" sz="79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35688" y="1160666"/>
            <a:ext cx="677706" cy="140456"/>
          </a:xfrm>
          <a:prstGeom prst="rect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4041" tIns="22020" rIns="44041" bIns="22020" numCol="1" rtlCol="0" anchor="ctr" anchorCtr="0" compatLnSpc="1"/>
          <a:lstStyle/>
          <a:p>
            <a:r>
              <a:rPr lang="en-US" altLang="zh-CN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</a:t>
            </a:r>
          </a:p>
        </p:txBody>
      </p:sp>
      <p:sp>
        <p:nvSpPr>
          <p:cNvPr id="5" name="矩形 4"/>
          <p:cNvSpPr/>
          <p:nvPr/>
        </p:nvSpPr>
        <p:spPr bwMode="auto">
          <a:xfrm>
            <a:off x="1184155" y="1160666"/>
            <a:ext cx="677706" cy="140456"/>
          </a:xfrm>
          <a:prstGeom prst="rect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4041" tIns="22020" rIns="44041" bIns="22020" numCol="1" rtlCol="0" anchor="ctr" anchorCtr="0" compatLnSpc="1"/>
          <a:lstStyle/>
          <a:p>
            <a:r>
              <a:rPr lang="en-US" altLang="zh-CN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</a:t>
            </a:r>
          </a:p>
        </p:txBody>
      </p:sp>
      <p:sp>
        <p:nvSpPr>
          <p:cNvPr id="6" name="矩形 5"/>
          <p:cNvSpPr/>
          <p:nvPr/>
        </p:nvSpPr>
        <p:spPr bwMode="auto">
          <a:xfrm>
            <a:off x="1832621" y="1160666"/>
            <a:ext cx="677706" cy="140456"/>
          </a:xfrm>
          <a:prstGeom prst="rect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4041" tIns="22020" rIns="44041" bIns="22020" numCol="1" rtlCol="0" anchor="ctr" anchorCtr="0" compatLnSpc="1"/>
          <a:lstStyle/>
          <a:p>
            <a:r>
              <a:rPr lang="en-US" altLang="zh-CN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2481088" y="1160666"/>
            <a:ext cx="677706" cy="140456"/>
          </a:xfrm>
          <a:prstGeom prst="rect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4041" tIns="22020" rIns="44041" bIns="22020" numCol="1" rtlCol="0" anchor="ctr" anchorCtr="0" compatLnSpc="1"/>
          <a:lstStyle/>
          <a:p>
            <a:r>
              <a:rPr lang="en-US" altLang="zh-CN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3129554" y="1160666"/>
            <a:ext cx="677706" cy="140456"/>
          </a:xfrm>
          <a:prstGeom prst="rect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4041" tIns="22020" rIns="44041" bIns="22020" numCol="1" rtlCol="0" anchor="ctr" anchorCtr="0" compatLnSpc="1"/>
          <a:lstStyle/>
          <a:p>
            <a:r>
              <a:rPr lang="en-US" altLang="zh-CN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3778021" y="1160666"/>
            <a:ext cx="677706" cy="140456"/>
          </a:xfrm>
          <a:prstGeom prst="rect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4041" tIns="22020" rIns="44041" bIns="22020" numCol="1" rtlCol="0" anchor="ctr" anchorCtr="0" compatLnSpc="1"/>
          <a:lstStyle/>
          <a:p>
            <a:r>
              <a:rPr lang="en-US" altLang="zh-CN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4426487" y="1160666"/>
            <a:ext cx="677706" cy="140456"/>
          </a:xfrm>
          <a:prstGeom prst="rect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4041" tIns="22020" rIns="44041" bIns="22020" numCol="1" rtlCol="0" anchor="ctr" anchorCtr="0" compatLnSpc="1"/>
          <a:lstStyle/>
          <a:p>
            <a:r>
              <a:rPr lang="en-US" altLang="zh-CN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lang="zh-CN" altLang="en-US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</a:t>
            </a:r>
          </a:p>
        </p:txBody>
      </p:sp>
      <p:sp>
        <p:nvSpPr>
          <p:cNvPr id="11" name="矩形 10"/>
          <p:cNvSpPr/>
          <p:nvPr/>
        </p:nvSpPr>
        <p:spPr bwMode="auto">
          <a:xfrm>
            <a:off x="5074954" y="1160666"/>
            <a:ext cx="677706" cy="140456"/>
          </a:xfrm>
          <a:prstGeom prst="rect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4041" tIns="22020" rIns="44041" bIns="22020" numCol="1" rtlCol="0" anchor="ctr" anchorCtr="0" compatLnSpc="1"/>
          <a:lstStyle/>
          <a:p>
            <a:r>
              <a:rPr lang="en-US" altLang="zh-CN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lang="zh-CN" altLang="en-US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</a:t>
            </a:r>
          </a:p>
        </p:txBody>
      </p:sp>
      <p:sp>
        <p:nvSpPr>
          <p:cNvPr id="12" name="矩形 11"/>
          <p:cNvSpPr/>
          <p:nvPr/>
        </p:nvSpPr>
        <p:spPr bwMode="auto">
          <a:xfrm>
            <a:off x="5723420" y="1160666"/>
            <a:ext cx="677706" cy="140456"/>
          </a:xfrm>
          <a:prstGeom prst="rect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4041" tIns="22020" rIns="44041" bIns="22020" numCol="1" rtlCol="0" anchor="ctr" anchorCtr="0" compatLnSpc="1"/>
          <a:lstStyle/>
          <a:p>
            <a:r>
              <a:rPr lang="en-US" altLang="zh-CN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</a:t>
            </a:r>
            <a:r>
              <a:rPr lang="zh-CN" altLang="en-US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</a:t>
            </a:r>
          </a:p>
        </p:txBody>
      </p:sp>
      <p:sp>
        <p:nvSpPr>
          <p:cNvPr id="13" name="矩形 12"/>
          <p:cNvSpPr/>
          <p:nvPr/>
        </p:nvSpPr>
        <p:spPr bwMode="auto">
          <a:xfrm>
            <a:off x="6371887" y="1160666"/>
            <a:ext cx="677706" cy="140456"/>
          </a:xfrm>
          <a:prstGeom prst="rect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4041" tIns="22020" rIns="44041" bIns="22020" numCol="1" rtlCol="0" anchor="ctr" anchorCtr="0" compatLnSpc="1"/>
          <a:lstStyle/>
          <a:p>
            <a:r>
              <a:rPr lang="en-US" altLang="zh-CN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</a:t>
            </a:r>
            <a:r>
              <a:rPr lang="zh-CN" altLang="en-US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7020353" y="1160666"/>
            <a:ext cx="677706" cy="140456"/>
          </a:xfrm>
          <a:prstGeom prst="rect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4041" tIns="22020" rIns="44041" bIns="22020" numCol="1" rtlCol="0" anchor="ctr" anchorCtr="0" compatLnSpc="1"/>
          <a:lstStyle/>
          <a:p>
            <a:r>
              <a:rPr lang="en-US" altLang="zh-CN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11</a:t>
            </a:r>
            <a:r>
              <a:rPr lang="zh-CN" altLang="en-US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7668816" y="1160666"/>
            <a:ext cx="677706" cy="140456"/>
          </a:xfrm>
          <a:prstGeom prst="rect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4041" tIns="22020" rIns="44041" bIns="22020" numCol="1" rtlCol="0" anchor="ctr" anchorCtr="0" compatLnSpc="1"/>
          <a:lstStyle/>
          <a:p>
            <a:r>
              <a:rPr lang="en-US" altLang="zh-CN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</a:t>
            </a:r>
            <a:r>
              <a:rPr lang="zh-CN" altLang="en-US" sz="7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</a:t>
            </a:r>
          </a:p>
        </p:txBody>
      </p:sp>
      <p:cxnSp>
        <p:nvCxnSpPr>
          <p:cNvPr id="19" name="肘形连接符 18"/>
          <p:cNvCxnSpPr/>
          <p:nvPr/>
        </p:nvCxnSpPr>
        <p:spPr>
          <a:xfrm>
            <a:off x="8362950" y="3319145"/>
            <a:ext cx="889635" cy="901700"/>
          </a:xfrm>
          <a:prstGeom prst="bentConnector3">
            <a:avLst>
              <a:gd name="adj1" fmla="val 50036"/>
            </a:avLst>
          </a:prstGeom>
          <a:noFill/>
          <a:ln w="9525" cap="flat" cmpd="sng" algn="ctr">
            <a:noFill/>
            <a:prstDash val="solid"/>
            <a:round/>
            <a:headEnd type="arrow" w="med" len="med"/>
            <a:tailEnd type="arrow" w="med" len="med"/>
          </a:ln>
        </p:spPr>
      </p:cxnSp>
      <p:sp>
        <p:nvSpPr>
          <p:cNvPr id="17412" name="Text Box 538"/>
          <p:cNvSpPr txBox="1"/>
          <p:nvPr/>
        </p:nvSpPr>
        <p:spPr>
          <a:xfrm>
            <a:off x="540465" y="260747"/>
            <a:ext cx="5940028" cy="575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1" lang="en-US" altLang="zh-CN" sz="21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2024</a:t>
            </a:r>
            <a:r>
              <a:rPr kumimoji="1" lang="zh-CN" altLang="en-US" sz="21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年度规划回顾</a:t>
            </a:r>
            <a:endParaRPr kumimoji="1" lang="en-US" altLang="zh-CN" sz="2100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-40005" y="3354070"/>
            <a:ext cx="581660" cy="151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/>
              <a:t>vss</a:t>
            </a:r>
          </a:p>
        </p:txBody>
      </p:sp>
      <p:sp>
        <p:nvSpPr>
          <p:cNvPr id="25" name="右箭头 24"/>
          <p:cNvSpPr/>
          <p:nvPr/>
        </p:nvSpPr>
        <p:spPr>
          <a:xfrm>
            <a:off x="611505" y="1484630"/>
            <a:ext cx="7705090" cy="575945"/>
          </a:xfrm>
          <a:prstGeom prst="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78296" tIns="39147" rIns="78296" bIns="39147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9" name="矩形 98"/>
          <p:cNvSpPr/>
          <p:nvPr>
            <p:custDataLst>
              <p:tags r:id="rId1"/>
            </p:custDataLst>
          </p:nvPr>
        </p:nvSpPr>
        <p:spPr bwMode="auto">
          <a:xfrm>
            <a:off x="6362065" y="5525770"/>
            <a:ext cx="2005965" cy="240665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Overflow="overflow" horzOverflow="overflow" vert="horz" wrap="none" lIns="58722" tIns="29360" rIns="58722" bIns="29360" numCol="1" spcCol="0" rtlCol="0" fromWordArt="0" anchor="ctr" anchorCtr="0" forceAA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VSS APP 2.3.1</a:t>
            </a:r>
            <a:r>
              <a:rPr lang="zh-CN" altLang="en-US" sz="800" b="1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版本</a:t>
            </a:r>
          </a:p>
        </p:txBody>
      </p:sp>
      <p:sp>
        <p:nvSpPr>
          <p:cNvPr id="35" name="矩形 34"/>
          <p:cNvSpPr/>
          <p:nvPr>
            <p:custDataLst>
              <p:tags r:id="rId2"/>
            </p:custDataLst>
          </p:nvPr>
        </p:nvSpPr>
        <p:spPr bwMode="auto">
          <a:xfrm>
            <a:off x="6376035" y="5040630"/>
            <a:ext cx="2005965" cy="250190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Overflow="overflow" horzOverflow="overflow" vert="horz" wrap="none" lIns="58722" tIns="29360" rIns="58722" bIns="29360" numCol="1" spcCol="0" rtlCol="0" fromWordArt="0" anchor="ctr" anchorCtr="0" forceAA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VSS PC</a:t>
            </a:r>
            <a:r>
              <a:rPr lang="zh-CN" altLang="en-US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端</a:t>
            </a:r>
            <a:r>
              <a:rPr lang="en-US" altLang="zh-CN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2.3.1</a:t>
            </a:r>
            <a:r>
              <a:rPr lang="zh-CN" altLang="en-US" sz="800" b="1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版本</a:t>
            </a:r>
          </a:p>
        </p:txBody>
      </p:sp>
      <p:sp>
        <p:nvSpPr>
          <p:cNvPr id="37" name="矩形 36"/>
          <p:cNvSpPr/>
          <p:nvPr>
            <p:custDataLst>
              <p:tags r:id="rId3"/>
            </p:custDataLst>
          </p:nvPr>
        </p:nvSpPr>
        <p:spPr bwMode="auto">
          <a:xfrm>
            <a:off x="4424680" y="4011295"/>
            <a:ext cx="2595880" cy="213360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Overflow="overflow" horzOverflow="overflow" vert="horz" wrap="none" lIns="58722" tIns="29360" rIns="58722" bIns="29360" numCol="1" spcCol="0" rtlCol="0" fromWordArt="0" anchor="ctr" anchorCtr="0" forceAA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VSS APP 2.3.0</a:t>
            </a:r>
            <a:r>
              <a:rPr lang="zh-CN" altLang="en-US" sz="800" b="1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版本</a:t>
            </a:r>
          </a:p>
        </p:txBody>
      </p:sp>
      <p:sp>
        <p:nvSpPr>
          <p:cNvPr id="38" name="矩形 37"/>
          <p:cNvSpPr/>
          <p:nvPr>
            <p:custDataLst>
              <p:tags r:id="rId4"/>
            </p:custDataLst>
          </p:nvPr>
        </p:nvSpPr>
        <p:spPr bwMode="auto">
          <a:xfrm>
            <a:off x="6873240" y="4484370"/>
            <a:ext cx="1488440" cy="238760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Overflow="overflow" horzOverflow="overflow" vert="horz" wrap="none" lIns="58722" tIns="29360" rIns="58722" bIns="29360" numCol="1" spcCol="0" rtlCol="0" fromWordArt="0" anchor="ctr" anchorCtr="0" forceAA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VSS 2.3.1</a:t>
            </a:r>
            <a:r>
              <a:rPr lang="zh-CN" altLang="en-US" sz="800" b="1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版本</a:t>
            </a:r>
          </a:p>
        </p:txBody>
      </p:sp>
      <p:sp>
        <p:nvSpPr>
          <p:cNvPr id="39" name="矩形 38"/>
          <p:cNvSpPr/>
          <p:nvPr>
            <p:custDataLst>
              <p:tags r:id="rId5"/>
            </p:custDataLst>
          </p:nvPr>
        </p:nvSpPr>
        <p:spPr bwMode="auto">
          <a:xfrm>
            <a:off x="4424680" y="3646170"/>
            <a:ext cx="2595880" cy="196850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Overflow="overflow" horzOverflow="overflow" vert="horz" wrap="none" lIns="58722" tIns="29360" rIns="58722" bIns="29360" numCol="1" spcCol="0" rtlCol="0" fromWordArt="0" anchor="ctr" anchorCtr="0" forceAA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VSS PC</a:t>
            </a:r>
            <a:r>
              <a:rPr lang="zh-CN" altLang="en-US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客户端</a:t>
            </a:r>
            <a:r>
              <a:rPr lang="en-US" altLang="zh-CN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2.3.0</a:t>
            </a:r>
            <a:r>
              <a:rPr lang="zh-CN" altLang="en-US" sz="800" b="1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版本</a:t>
            </a:r>
          </a:p>
        </p:txBody>
      </p:sp>
      <p:sp>
        <p:nvSpPr>
          <p:cNvPr id="40" name="矩形 39"/>
          <p:cNvSpPr/>
          <p:nvPr>
            <p:custDataLst>
              <p:tags r:id="rId6"/>
            </p:custDataLst>
          </p:nvPr>
        </p:nvSpPr>
        <p:spPr bwMode="auto">
          <a:xfrm>
            <a:off x="4411345" y="3192780"/>
            <a:ext cx="2595880" cy="203200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Overflow="overflow" horzOverflow="overflow" vert="horz" wrap="none" lIns="58722" tIns="29360" rIns="58722" bIns="29360" numCol="1" spcCol="0" rtlCol="0" fromWordArt="0" anchor="ctr" anchorCtr="0" forceAA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VSS 2.3.0</a:t>
            </a:r>
            <a:r>
              <a:rPr lang="zh-CN" altLang="en-US" sz="800" b="1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版本</a:t>
            </a:r>
          </a:p>
        </p:txBody>
      </p:sp>
      <p:sp>
        <p:nvSpPr>
          <p:cNvPr id="41" name="矩形 40"/>
          <p:cNvSpPr/>
          <p:nvPr>
            <p:custDataLst>
              <p:tags r:id="rId7"/>
            </p:custDataLst>
          </p:nvPr>
        </p:nvSpPr>
        <p:spPr bwMode="auto">
          <a:xfrm>
            <a:off x="1832610" y="2777490"/>
            <a:ext cx="2595880" cy="210820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Overflow="overflow" horzOverflow="overflow" vert="horz" wrap="none" lIns="58722" tIns="29360" rIns="58722" bIns="29360" numCol="1" spcCol="0" rtlCol="0" fromWordArt="0" anchor="ctr" anchorCtr="0" forceAA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VSS APP 2.2</a:t>
            </a:r>
            <a:r>
              <a:rPr lang="zh-CN" altLang="en-US" sz="800" b="1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版本</a:t>
            </a:r>
          </a:p>
        </p:txBody>
      </p:sp>
      <p:sp>
        <p:nvSpPr>
          <p:cNvPr id="42" name="矩形 41"/>
          <p:cNvSpPr/>
          <p:nvPr>
            <p:custDataLst>
              <p:tags r:id="rId8"/>
            </p:custDataLst>
          </p:nvPr>
        </p:nvSpPr>
        <p:spPr bwMode="auto">
          <a:xfrm>
            <a:off x="2480945" y="2346960"/>
            <a:ext cx="1929765" cy="214630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Overflow="overflow" horzOverflow="overflow" vert="horz" wrap="none" lIns="58722" tIns="29360" rIns="58722" bIns="29360" numCol="1" spcCol="0" rtlCol="0" fromWordArt="0" anchor="ctr" anchorCtr="0" forceAA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VSS PC</a:t>
            </a:r>
            <a:r>
              <a:rPr lang="zh-CN" altLang="en-US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客户端</a:t>
            </a:r>
            <a:r>
              <a:rPr lang="en-US" altLang="zh-CN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2.2 </a:t>
            </a:r>
            <a:r>
              <a:rPr lang="zh-CN" altLang="en-US" sz="800" b="1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版本</a:t>
            </a:r>
          </a:p>
        </p:txBody>
      </p:sp>
      <p:sp>
        <p:nvSpPr>
          <p:cNvPr id="43" name="矩形 42"/>
          <p:cNvSpPr/>
          <p:nvPr>
            <p:custDataLst>
              <p:tags r:id="rId9"/>
            </p:custDataLst>
          </p:nvPr>
        </p:nvSpPr>
        <p:spPr bwMode="auto">
          <a:xfrm>
            <a:off x="1188085" y="1967865"/>
            <a:ext cx="1929765" cy="233680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Overflow="overflow" horzOverflow="overflow" vert="horz" wrap="none" lIns="58722" tIns="29360" rIns="58722" bIns="29360" numCol="1" spcCol="0" rtlCol="0" fromWordArt="0" anchor="ctr" anchorCtr="0" forceAA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VSS 2.2 </a:t>
            </a:r>
            <a:r>
              <a:rPr lang="zh-CN" altLang="en-US" sz="800" b="1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版本</a:t>
            </a:r>
          </a:p>
        </p:txBody>
      </p:sp>
      <p:sp>
        <p:nvSpPr>
          <p:cNvPr id="44" name="矩形 43"/>
          <p:cNvSpPr/>
          <p:nvPr>
            <p:custDataLst>
              <p:tags r:id="rId10"/>
            </p:custDataLst>
          </p:nvPr>
        </p:nvSpPr>
        <p:spPr bwMode="auto">
          <a:xfrm>
            <a:off x="535940" y="1630680"/>
            <a:ext cx="1031875" cy="211455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Overflow="overflow" horzOverflow="overflow" vert="horz" wrap="none" lIns="58722" tIns="29360" rIns="58722" bIns="29360" numCol="1" spcCol="0" rtlCol="0" fromWordArt="0" anchor="ctr" anchorCtr="0" forceAA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8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VSS 2.1 </a:t>
            </a:r>
            <a:r>
              <a:rPr lang="zh-CN" altLang="en-US" sz="800" b="1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版本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38"/>
          <p:cNvSpPr txBox="1"/>
          <p:nvPr/>
        </p:nvSpPr>
        <p:spPr>
          <a:xfrm>
            <a:off x="540465" y="260747"/>
            <a:ext cx="5940028" cy="575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1" lang="en-US" altLang="zh-CN" sz="21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2024</a:t>
            </a:r>
            <a:r>
              <a:rPr kumimoji="1" lang="zh-CN" altLang="en-US" sz="21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年度工作情况总结</a:t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3655060" y="1447800"/>
          <a:ext cx="5354955" cy="3997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图表 13"/>
          <p:cNvGraphicFramePr/>
          <p:nvPr/>
        </p:nvGraphicFramePr>
        <p:xfrm>
          <a:off x="750570" y="2898775"/>
          <a:ext cx="3427095" cy="2747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821690" y="1243330"/>
            <a:ext cx="352425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/>
              <a:t>2024</a:t>
            </a:r>
            <a:r>
              <a:rPr lang="zh-CN" altLang="en-US"/>
              <a:t>年</a:t>
            </a:r>
            <a:r>
              <a:rPr lang="en-US" altLang="zh-CN"/>
              <a:t>VSS</a:t>
            </a:r>
            <a:r>
              <a:rPr lang="zh-CN" altLang="en-US"/>
              <a:t>全年发布总数：均为一个大版本发布</a:t>
            </a:r>
          </a:p>
          <a:p>
            <a:pPr algn="l"/>
            <a:endParaRPr lang="en-US" altLang="zh-CN"/>
          </a:p>
          <a:p>
            <a:pPr algn="l"/>
            <a:r>
              <a:rPr lang="en-US" altLang="zh-CN"/>
              <a:t>bug</a:t>
            </a:r>
            <a:r>
              <a:rPr lang="zh-CN" altLang="en-US"/>
              <a:t>总数：</a:t>
            </a:r>
            <a:r>
              <a:rPr lang="en-US" altLang="zh-CN"/>
              <a:t>1094</a:t>
            </a:r>
            <a:r>
              <a:rPr lang="zh-CN" altLang="en-US">
                <a:sym typeface="+mn-ea"/>
              </a:rPr>
              <a:t>（其中测试部发现</a:t>
            </a:r>
            <a:r>
              <a:rPr lang="en-US" altLang="zh-CN">
                <a:sym typeface="+mn-ea"/>
              </a:rPr>
              <a:t>950</a:t>
            </a:r>
            <a:r>
              <a:rPr lang="zh-CN" altLang="en-US">
                <a:sym typeface="+mn-ea"/>
              </a:rPr>
              <a:t>、市场反馈</a:t>
            </a:r>
            <a:r>
              <a:rPr lang="en-US" altLang="zh-CN">
                <a:sym typeface="+mn-ea"/>
              </a:rPr>
              <a:t>99</a:t>
            </a:r>
            <a:r>
              <a:rPr lang="zh-CN" altLang="en-US">
                <a:sym typeface="+mn-ea"/>
              </a:rPr>
              <a:t>（其中</a:t>
            </a:r>
            <a:r>
              <a:rPr lang="en-US" altLang="zh-CN">
                <a:sym typeface="+mn-ea"/>
              </a:rPr>
              <a:t>28</a:t>
            </a:r>
            <a:r>
              <a:rPr lang="zh-CN" altLang="en-US">
                <a:sym typeface="+mn-ea"/>
              </a:rPr>
              <a:t>个为非问题））</a:t>
            </a:r>
          </a:p>
          <a:p>
            <a:pPr algn="l"/>
            <a:endParaRPr lang="zh-CN" altLang="en-US"/>
          </a:p>
          <a:p>
            <a:pPr algn="l"/>
            <a:r>
              <a:rPr lang="zh-CN" altLang="en-US"/>
              <a:t>根据问题与需求，全年新增用例数</a:t>
            </a:r>
            <a:r>
              <a:rPr lang="en-US" altLang="zh-CN"/>
              <a:t>100</a:t>
            </a:r>
            <a:r>
              <a:rPr lang="zh-CN" altLang="en-US"/>
              <a:t>余条。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6095" y="1106170"/>
          <a:ext cx="8018780" cy="3756660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998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8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27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工作内容描述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u="none" strike="noStrike" kern="1200" dirty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完成度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完成情况</a:t>
                      </a:r>
                      <a:endParaRPr lang="en-US" altLang="zh-CN" sz="1050" b="1" u="none" strike="noStrike" kern="1200" dirty="0">
                        <a:solidFill>
                          <a:schemeClr val="l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VSS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VSS 2.2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版本测试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</a:p>
                  </a:txBody>
                  <a:tcPr marL="5715" marR="5715" marT="5715" marB="0" anchor="ctr"/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已发布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VSS2.2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用例总数：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463条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累计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bug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总数：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282</a:t>
                      </a:r>
                    </a:p>
                    <a:p>
                      <a:pPr algn="l" fontAlgn="ctr">
                        <a:buNone/>
                      </a:pPr>
                      <a:endParaRPr lang="en-US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MiSans Normal" panose="00000500000000000000" charset="-122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测试发现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Bug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总数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:193个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（其中严重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:5个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；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一般:180个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；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轻微:8个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）</a:t>
                      </a:r>
                    </a:p>
                    <a:p>
                      <a:pPr algn="l" fontAlgn="ctr">
                        <a:buNone/>
                      </a:pPr>
                      <a:endParaRPr lang="zh-CN" altLang="en-US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MiSans Normal" panose="00000500000000000000" charset="-122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市场反馈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bug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数：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89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个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（其中明确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bug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数：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明确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bug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数：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61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，（已解决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48+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无法复现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3+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待确定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9+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无法解决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）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，</a:t>
                      </a:r>
                    </a:p>
                    <a:p>
                      <a:pPr algn="l" fontAlgn="ctr">
                        <a:buNone/>
                      </a:pP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MiSans Normal" panose="00000500000000000000" charset="-122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非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bug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数：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28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，（转需求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5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，非问题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11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，重复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bug6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，外部原因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4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，设计如此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）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MiSans Normal" panose="00000500000000000000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4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VSS 2.2 PC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客户端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版本测试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100%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9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VSS 2.2 APP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测试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100%</a:t>
                      </a:r>
                      <a:endParaRPr lang="en-US" altLang="zh-CN" sz="1000" b="0" u="none" strike="noStrike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已发布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vss app 2.2</a:t>
                      </a:r>
                      <a:r>
                        <a:rPr lang="zh-CN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版本用例：</a:t>
                      </a:r>
                      <a:r>
                        <a:rPr lang="en-US" altLang="zh-CN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68</a:t>
                      </a:r>
                      <a:r>
                        <a:rPr lang="zh-CN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</a:t>
                      </a:r>
                      <a:r>
                        <a:rPr lang="en-US" altLang="zh-CN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发现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Bug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总数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:</a:t>
                      </a:r>
                      <a:r>
                        <a:rPr lang="en-US" altLang="zh-CN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23</a:t>
                      </a:r>
                      <a:r>
                        <a:rPr lang="zh-CN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个（其中严重</a:t>
                      </a:r>
                      <a:r>
                        <a:rPr lang="en-US" altLang="zh-CN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:3</a:t>
                      </a:r>
                      <a:r>
                        <a:rPr lang="zh-CN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个；一般</a:t>
                      </a:r>
                      <a:r>
                        <a:rPr lang="en-US" altLang="zh-CN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:19</a:t>
                      </a:r>
                      <a:r>
                        <a:rPr lang="zh-CN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个；轻微</a:t>
                      </a:r>
                      <a:r>
                        <a:rPr lang="en-US" altLang="zh-CN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:1</a:t>
                      </a:r>
                      <a:r>
                        <a:rPr lang="zh-CN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个）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538"/>
          <p:cNvSpPr txBox="1"/>
          <p:nvPr/>
        </p:nvSpPr>
        <p:spPr>
          <a:xfrm>
            <a:off x="540465" y="260747"/>
            <a:ext cx="5940028" cy="575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1" lang="en-US" altLang="zh-CN" sz="21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2024</a:t>
            </a:r>
            <a:r>
              <a:rPr kumimoji="1" lang="zh-CN" altLang="en-US" sz="21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年度工作情况总结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6095" y="962660"/>
          <a:ext cx="8012430" cy="4306570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998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0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6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5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工作内容描述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u="none" strike="noStrike" kern="1200" dirty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完成度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完成情况</a:t>
                      </a:r>
                      <a:endParaRPr lang="en-US" altLang="zh-CN" sz="1050" b="1" u="none" strike="noStrike" kern="1200" dirty="0">
                        <a:solidFill>
                          <a:schemeClr val="l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330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VSS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VSS 2.3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版本测试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100%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 rowSpan="2">
                  <a:txBody>
                    <a:bodyPr/>
                    <a:lstStyle/>
                    <a:p>
                      <a:pPr marL="0" lvl="1" algn="l" font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已发布</a:t>
                      </a:r>
                      <a:endParaRPr lang="en-US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MiSans Normal" panose="00000500000000000000" charset="-122"/>
                      </a:endParaRPr>
                    </a:p>
                    <a:p>
                      <a:pPr marL="0" lvl="1" algn="l" font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VSS2.3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版本用例：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1262条,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发现</a:t>
                      </a:r>
                    </a:p>
                    <a:p>
                      <a:pPr marL="0" lvl="1" algn="l" fontAlgn="ctr">
                        <a:buNone/>
                      </a:pPr>
                      <a:endParaRPr lang="zh-CN" altLang="en-US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MiSans Normal" panose="00000500000000000000" charset="-122"/>
                      </a:endParaRPr>
                    </a:p>
                    <a:p>
                      <a:pPr marL="0" lvl="1" algn="l" fontAlgn="ctr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累计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bug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总数：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497</a:t>
                      </a:r>
                      <a:endParaRPr lang="zh-CN" altLang="en-US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MiSans Normal" panose="00000500000000000000" charset="-122"/>
                      </a:endParaRPr>
                    </a:p>
                    <a:p>
                      <a:pPr marL="0" lvl="1" algn="l" font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bug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总数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:487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（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其中严重:19个 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；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一般:466个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；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轻微:2个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）</a:t>
                      </a:r>
                      <a:endParaRPr lang="en-US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MiSans Normal" panose="00000500000000000000" charset="-122"/>
                      </a:endParaRPr>
                    </a:p>
                    <a:p>
                      <a:pPr marL="0" lvl="1" algn="l" fontAlgn="ctr">
                        <a:buNone/>
                      </a:pP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lvl="1" algn="l" fontAlgn="ctr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市场反馈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bug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数：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</a:p>
                    <a:p>
                      <a:pPr marL="0" lvl="1"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（其中明确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bug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数：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，（已解决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7+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待确定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83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VSS 2.3 PC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客户端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版本测试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100%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3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VSS 2.3 APP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测试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100%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已发布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vss app 2.3.0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版本用例：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166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发现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BUG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总数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67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个（其中严重：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个；一般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:52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轻微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:14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6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VSS 2.3.1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版本测试</a:t>
                      </a:r>
                      <a:endParaRPr lang="zh-CN" altLang="en-US" sz="1000" b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100%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 rowSpan="2">
                  <a:txBody>
                    <a:bodyPr/>
                    <a:lstStyle/>
                    <a:p>
                      <a:pPr marL="0" lvl="1" algn="l" font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已发布</a:t>
                      </a:r>
                      <a:endParaRPr lang="en-US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MiSans Normal" panose="00000500000000000000" charset="-122"/>
                      </a:endParaRPr>
                    </a:p>
                    <a:p>
                      <a:pPr marL="0" lvl="1" algn="l" font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VSS2.3.1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版本用例：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1721条,发现bug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总数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:154个(其中严重:3个,一般:151个)</a:t>
                      </a:r>
                    </a:p>
                    <a:p>
                      <a:pPr marL="0" lvl="1" algn="l" fontAlgn="ctr">
                        <a:buNone/>
                      </a:pP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8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VSS 2.3.1 PC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客户端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版本测试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100%</a:t>
                      </a:r>
                      <a:endParaRPr lang="zh-CN" altLang="en-US" sz="1000" b="0" u="none" strike="noStrike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715" marR="5715" marT="5715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43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VSS 2.3.1 APP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测试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10%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已发布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vss app 2.3.0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用例：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193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发现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Bug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总数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Sans Normal" panose="00000500000000000000" charset="-122"/>
                        </a:rPr>
                        <a:t>: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26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个（其中一般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:26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个；）</a:t>
                      </a:r>
                      <a:endParaRPr lang="zh-CN" altLang="en-US" sz="1000" b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Box 538"/>
          <p:cNvSpPr txBox="1"/>
          <p:nvPr/>
        </p:nvSpPr>
        <p:spPr>
          <a:xfrm>
            <a:off x="540465" y="260747"/>
            <a:ext cx="5940028" cy="575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1" lang="en-US" altLang="zh-CN" sz="21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2024</a:t>
            </a:r>
            <a:r>
              <a:rPr kumimoji="1" lang="zh-CN" altLang="en-US" sz="21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年度工作情况总结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>
            <p:custDataLst>
              <p:tags r:id="rId1"/>
            </p:custDataLst>
          </p:nvPr>
        </p:nvSpPr>
        <p:spPr>
          <a:xfrm>
            <a:off x="6247765" y="2623820"/>
            <a:ext cx="1542415" cy="3321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800">
                <a:solidFill>
                  <a:schemeClr val="accent5"/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rPr>
              <a:t>Rebort</a:t>
            </a:r>
            <a:endParaRPr lang="en-US" altLang="zh-CN" sz="995">
              <a:solidFill>
                <a:schemeClr val="accent5"/>
              </a:solidFill>
              <a:latin typeface="inpin heiti" panose="00000500000000000000" pitchFamily="2" charset="-122"/>
              <a:ea typeface="inpin heiti" panose="00000500000000000000" pitchFamily="2" charset="-122"/>
              <a:cs typeface="+mn-ea"/>
              <a:sym typeface="inpin heiti" panose="00000500000000000000" pitchFamily="2" charset="-122"/>
            </a:endParaRPr>
          </a:p>
        </p:txBody>
      </p:sp>
      <p:sp>
        <p:nvSpPr>
          <p:cNvPr id="30" name="TextBox 29"/>
          <p:cNvSpPr txBox="1"/>
          <p:nvPr>
            <p:custDataLst>
              <p:tags r:id="rId2"/>
            </p:custDataLst>
          </p:nvPr>
        </p:nvSpPr>
        <p:spPr>
          <a:xfrm>
            <a:off x="6247765" y="4043680"/>
            <a:ext cx="1542415" cy="3321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800">
                <a:solidFill>
                  <a:schemeClr val="accent6"/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rPr>
              <a:t>Circle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555" y="2754630"/>
            <a:ext cx="1542415" cy="664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800">
                <a:solidFill>
                  <a:schemeClr val="accent1"/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rPr>
              <a:t>VSS APP（Android/IOS）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2685" y="1887855"/>
            <a:ext cx="1542415" cy="3321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800">
                <a:solidFill>
                  <a:schemeClr val="accent2"/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rPr>
              <a:t>VSS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2685" y="3905250"/>
            <a:ext cx="1542415" cy="3321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800">
                <a:solidFill>
                  <a:schemeClr val="accent4"/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rPr>
              <a:t>VSS Player</a:t>
            </a:r>
          </a:p>
        </p:txBody>
      </p:sp>
      <p:grpSp>
        <p:nvGrpSpPr>
          <p:cNvPr id="53" name="Group 111"/>
          <p:cNvGrpSpPr/>
          <p:nvPr/>
        </p:nvGrpSpPr>
        <p:grpSpPr>
          <a:xfrm>
            <a:off x="2681070" y="3796522"/>
            <a:ext cx="468996" cy="455568"/>
            <a:chOff x="630683" y="4190009"/>
            <a:chExt cx="469021" cy="455593"/>
          </a:xfrm>
        </p:grpSpPr>
        <p:sp>
          <p:nvSpPr>
            <p:cNvPr id="54" name="Oval 53"/>
            <p:cNvSpPr>
              <a:spLocks noChangeAspect="1"/>
            </p:cNvSpPr>
            <p:nvPr/>
          </p:nvSpPr>
          <p:spPr>
            <a:xfrm>
              <a:off x="630683" y="4190009"/>
              <a:ext cx="469021" cy="4555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570"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endParaRPr>
            </a:p>
          </p:txBody>
        </p:sp>
        <p:sp>
          <p:nvSpPr>
            <p:cNvPr id="55" name="Freeform 103"/>
            <p:cNvSpPr>
              <a:spLocks noEditPoints="1"/>
            </p:cNvSpPr>
            <p:nvPr/>
          </p:nvSpPr>
          <p:spPr bwMode="auto">
            <a:xfrm>
              <a:off x="765181" y="4270535"/>
              <a:ext cx="200025" cy="294541"/>
            </a:xfrm>
            <a:custGeom>
              <a:avLst/>
              <a:gdLst/>
              <a:ahLst/>
              <a:cxnLst>
                <a:cxn ang="0">
                  <a:pos x="37" y="29"/>
                </a:cxn>
                <a:cxn ang="0">
                  <a:pos x="31" y="41"/>
                </a:cxn>
                <a:cxn ang="0">
                  <a:pos x="33" y="44"/>
                </a:cxn>
                <a:cxn ang="0">
                  <a:pos x="32" y="47"/>
                </a:cxn>
                <a:cxn ang="0">
                  <a:pos x="33" y="49"/>
                </a:cxn>
                <a:cxn ang="0">
                  <a:pos x="31" y="53"/>
                </a:cxn>
                <a:cxn ang="0">
                  <a:pos x="31" y="54"/>
                </a:cxn>
                <a:cxn ang="0">
                  <a:pos x="27" y="58"/>
                </a:cxn>
                <a:cxn ang="0">
                  <a:pos x="21" y="62"/>
                </a:cxn>
                <a:cxn ang="0">
                  <a:pos x="15" y="58"/>
                </a:cxn>
                <a:cxn ang="0">
                  <a:pos x="11" y="54"/>
                </a:cxn>
                <a:cxn ang="0">
                  <a:pos x="11" y="53"/>
                </a:cxn>
                <a:cxn ang="0">
                  <a:pos x="9" y="49"/>
                </a:cxn>
                <a:cxn ang="0">
                  <a:pos x="10" y="47"/>
                </a:cxn>
                <a:cxn ang="0">
                  <a:pos x="9" y="44"/>
                </a:cxn>
                <a:cxn ang="0">
                  <a:pos x="11" y="41"/>
                </a:cxn>
                <a:cxn ang="0">
                  <a:pos x="5" y="29"/>
                </a:cxn>
                <a:cxn ang="0">
                  <a:pos x="0" y="18"/>
                </a:cxn>
                <a:cxn ang="0">
                  <a:pos x="21" y="0"/>
                </a:cxn>
                <a:cxn ang="0">
                  <a:pos x="42" y="18"/>
                </a:cxn>
                <a:cxn ang="0">
                  <a:pos x="37" y="29"/>
                </a:cxn>
                <a:cxn ang="0">
                  <a:pos x="21" y="6"/>
                </a:cxn>
                <a:cxn ang="0">
                  <a:pos x="6" y="18"/>
                </a:cxn>
                <a:cxn ang="0">
                  <a:pos x="8" y="26"/>
                </a:cxn>
                <a:cxn ang="0">
                  <a:pos x="11" y="28"/>
                </a:cxn>
                <a:cxn ang="0">
                  <a:pos x="16" y="40"/>
                </a:cxn>
                <a:cxn ang="0">
                  <a:pos x="26" y="40"/>
                </a:cxn>
                <a:cxn ang="0">
                  <a:pos x="31" y="28"/>
                </a:cxn>
                <a:cxn ang="0">
                  <a:pos x="34" y="26"/>
                </a:cxn>
                <a:cxn ang="0">
                  <a:pos x="36" y="18"/>
                </a:cxn>
                <a:cxn ang="0">
                  <a:pos x="21" y="6"/>
                </a:cxn>
                <a:cxn ang="0">
                  <a:pos x="29" y="20"/>
                </a:cxn>
                <a:cxn ang="0">
                  <a:pos x="27" y="18"/>
                </a:cxn>
                <a:cxn ang="0">
                  <a:pos x="21" y="15"/>
                </a:cxn>
                <a:cxn ang="0">
                  <a:pos x="20" y="13"/>
                </a:cxn>
                <a:cxn ang="0">
                  <a:pos x="21" y="12"/>
                </a:cxn>
                <a:cxn ang="0">
                  <a:pos x="30" y="18"/>
                </a:cxn>
                <a:cxn ang="0">
                  <a:pos x="29" y="20"/>
                </a:cxn>
              </a:cxnLst>
              <a:rect l="0" t="0" r="r" b="b"/>
              <a:pathLst>
                <a:path w="42" h="62">
                  <a:moveTo>
                    <a:pt x="37" y="29"/>
                  </a:moveTo>
                  <a:cubicBezTo>
                    <a:pt x="35" y="32"/>
                    <a:pt x="31" y="37"/>
                    <a:pt x="31" y="41"/>
                  </a:cubicBezTo>
                  <a:cubicBezTo>
                    <a:pt x="32" y="42"/>
                    <a:pt x="33" y="43"/>
                    <a:pt x="33" y="44"/>
                  </a:cubicBezTo>
                  <a:cubicBezTo>
                    <a:pt x="33" y="45"/>
                    <a:pt x="32" y="46"/>
                    <a:pt x="32" y="47"/>
                  </a:cubicBezTo>
                  <a:cubicBezTo>
                    <a:pt x="32" y="47"/>
                    <a:pt x="33" y="48"/>
                    <a:pt x="33" y="49"/>
                  </a:cubicBezTo>
                  <a:cubicBezTo>
                    <a:pt x="33" y="51"/>
                    <a:pt x="32" y="52"/>
                    <a:pt x="31" y="53"/>
                  </a:cubicBezTo>
                  <a:cubicBezTo>
                    <a:pt x="31" y="53"/>
                    <a:pt x="31" y="54"/>
                    <a:pt x="31" y="54"/>
                  </a:cubicBezTo>
                  <a:cubicBezTo>
                    <a:pt x="31" y="57"/>
                    <a:pt x="29" y="58"/>
                    <a:pt x="27" y="58"/>
                  </a:cubicBezTo>
                  <a:cubicBezTo>
                    <a:pt x="26" y="61"/>
                    <a:pt x="24" y="62"/>
                    <a:pt x="21" y="62"/>
                  </a:cubicBezTo>
                  <a:cubicBezTo>
                    <a:pt x="19" y="62"/>
                    <a:pt x="16" y="61"/>
                    <a:pt x="15" y="58"/>
                  </a:cubicBezTo>
                  <a:cubicBezTo>
                    <a:pt x="13" y="58"/>
                    <a:pt x="11" y="57"/>
                    <a:pt x="11" y="54"/>
                  </a:cubicBezTo>
                  <a:cubicBezTo>
                    <a:pt x="11" y="54"/>
                    <a:pt x="11" y="53"/>
                    <a:pt x="11" y="53"/>
                  </a:cubicBezTo>
                  <a:cubicBezTo>
                    <a:pt x="10" y="52"/>
                    <a:pt x="9" y="51"/>
                    <a:pt x="9" y="49"/>
                  </a:cubicBezTo>
                  <a:cubicBezTo>
                    <a:pt x="9" y="48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3"/>
                    <a:pt x="10" y="42"/>
                    <a:pt x="11" y="41"/>
                  </a:cubicBezTo>
                  <a:cubicBezTo>
                    <a:pt x="11" y="37"/>
                    <a:pt x="7" y="32"/>
                    <a:pt x="5" y="29"/>
                  </a:cubicBezTo>
                  <a:cubicBezTo>
                    <a:pt x="2" y="26"/>
                    <a:pt x="0" y="23"/>
                    <a:pt x="0" y="18"/>
                  </a:cubicBezTo>
                  <a:cubicBezTo>
                    <a:pt x="0" y="8"/>
                    <a:pt x="11" y="0"/>
                    <a:pt x="21" y="0"/>
                  </a:cubicBezTo>
                  <a:cubicBezTo>
                    <a:pt x="31" y="0"/>
                    <a:pt x="42" y="8"/>
                    <a:pt x="42" y="18"/>
                  </a:cubicBezTo>
                  <a:cubicBezTo>
                    <a:pt x="42" y="23"/>
                    <a:pt x="40" y="26"/>
                    <a:pt x="37" y="29"/>
                  </a:cubicBezTo>
                  <a:close/>
                  <a:moveTo>
                    <a:pt x="21" y="6"/>
                  </a:moveTo>
                  <a:cubicBezTo>
                    <a:pt x="14" y="6"/>
                    <a:pt x="6" y="10"/>
                    <a:pt x="6" y="18"/>
                  </a:cubicBezTo>
                  <a:cubicBezTo>
                    <a:pt x="6" y="21"/>
                    <a:pt x="7" y="24"/>
                    <a:pt x="8" y="26"/>
                  </a:cubicBezTo>
                  <a:cubicBezTo>
                    <a:pt x="9" y="27"/>
                    <a:pt x="10" y="27"/>
                    <a:pt x="11" y="28"/>
                  </a:cubicBezTo>
                  <a:cubicBezTo>
                    <a:pt x="14" y="32"/>
                    <a:pt x="16" y="36"/>
                    <a:pt x="1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36"/>
                    <a:pt x="28" y="32"/>
                    <a:pt x="31" y="28"/>
                  </a:cubicBezTo>
                  <a:cubicBezTo>
                    <a:pt x="32" y="27"/>
                    <a:pt x="33" y="27"/>
                    <a:pt x="34" y="26"/>
                  </a:cubicBezTo>
                  <a:cubicBezTo>
                    <a:pt x="35" y="24"/>
                    <a:pt x="36" y="21"/>
                    <a:pt x="36" y="18"/>
                  </a:cubicBezTo>
                  <a:cubicBezTo>
                    <a:pt x="36" y="10"/>
                    <a:pt x="28" y="6"/>
                    <a:pt x="21" y="6"/>
                  </a:cubicBezTo>
                  <a:close/>
                  <a:moveTo>
                    <a:pt x="29" y="20"/>
                  </a:moveTo>
                  <a:cubicBezTo>
                    <a:pt x="28" y="20"/>
                    <a:pt x="27" y="19"/>
                    <a:pt x="27" y="18"/>
                  </a:cubicBezTo>
                  <a:cubicBezTo>
                    <a:pt x="27" y="16"/>
                    <a:pt x="23" y="15"/>
                    <a:pt x="21" y="15"/>
                  </a:cubicBezTo>
                  <a:cubicBezTo>
                    <a:pt x="20" y="15"/>
                    <a:pt x="20" y="14"/>
                    <a:pt x="20" y="13"/>
                  </a:cubicBezTo>
                  <a:cubicBezTo>
                    <a:pt x="20" y="13"/>
                    <a:pt x="20" y="12"/>
                    <a:pt x="21" y="12"/>
                  </a:cubicBezTo>
                  <a:cubicBezTo>
                    <a:pt x="25" y="12"/>
                    <a:pt x="30" y="14"/>
                    <a:pt x="30" y="18"/>
                  </a:cubicBezTo>
                  <a:cubicBezTo>
                    <a:pt x="30" y="19"/>
                    <a:pt x="29" y="20"/>
                    <a:pt x="29" y="2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34" tIns="45717" rIns="91434" bIns="45717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570"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endParaRPr>
            </a:p>
          </p:txBody>
        </p:sp>
      </p:grpSp>
      <p:grpSp>
        <p:nvGrpSpPr>
          <p:cNvPr id="56" name="Group 114"/>
          <p:cNvGrpSpPr/>
          <p:nvPr/>
        </p:nvGrpSpPr>
        <p:grpSpPr>
          <a:xfrm>
            <a:off x="2681070" y="1851180"/>
            <a:ext cx="468996" cy="455568"/>
            <a:chOff x="3425803" y="3384456"/>
            <a:chExt cx="469021" cy="455593"/>
          </a:xfrm>
        </p:grpSpPr>
        <p:sp>
          <p:nvSpPr>
            <p:cNvPr id="57" name="Oval 56"/>
            <p:cNvSpPr>
              <a:spLocks noChangeAspect="1"/>
            </p:cNvSpPr>
            <p:nvPr/>
          </p:nvSpPr>
          <p:spPr>
            <a:xfrm>
              <a:off x="3425803" y="3384456"/>
              <a:ext cx="469021" cy="45559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570"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endParaRPr>
            </a:p>
          </p:txBody>
        </p:sp>
        <p:sp>
          <p:nvSpPr>
            <p:cNvPr id="58" name="Freeform 5"/>
            <p:cNvSpPr>
              <a:spLocks noEditPoints="1"/>
            </p:cNvSpPr>
            <p:nvPr/>
          </p:nvSpPr>
          <p:spPr bwMode="auto">
            <a:xfrm>
              <a:off x="3520613" y="3471340"/>
              <a:ext cx="279400" cy="279400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255" y="135"/>
                </a:cxn>
                <a:cxn ang="0">
                  <a:pos x="277" y="122"/>
                </a:cxn>
                <a:cxn ang="0">
                  <a:pos x="303" y="116"/>
                </a:cxn>
                <a:cxn ang="0">
                  <a:pos x="296" y="105"/>
                </a:cxn>
                <a:cxn ang="0">
                  <a:pos x="278" y="89"/>
                </a:cxn>
                <a:cxn ang="0">
                  <a:pos x="265" y="90"/>
                </a:cxn>
                <a:cxn ang="0">
                  <a:pos x="256" y="82"/>
                </a:cxn>
                <a:cxn ang="0">
                  <a:pos x="231" y="73"/>
                </a:cxn>
                <a:cxn ang="0">
                  <a:pos x="234" y="98"/>
                </a:cxn>
                <a:cxn ang="0">
                  <a:pos x="224" y="118"/>
                </a:cxn>
                <a:cxn ang="0">
                  <a:pos x="205" y="103"/>
                </a:cxn>
                <a:cxn ang="0">
                  <a:pos x="175" y="89"/>
                </a:cxn>
                <a:cxn ang="0">
                  <a:pos x="183" y="68"/>
                </a:cxn>
                <a:cxn ang="0">
                  <a:pos x="212" y="58"/>
                </a:cxn>
                <a:cxn ang="0">
                  <a:pos x="207" y="47"/>
                </a:cxn>
                <a:cxn ang="0">
                  <a:pos x="188" y="50"/>
                </a:cxn>
                <a:cxn ang="0">
                  <a:pos x="168" y="37"/>
                </a:cxn>
                <a:cxn ang="0">
                  <a:pos x="171" y="52"/>
                </a:cxn>
                <a:cxn ang="0">
                  <a:pos x="157" y="52"/>
                </a:cxn>
                <a:cxn ang="0">
                  <a:pos x="141" y="40"/>
                </a:cxn>
                <a:cxn ang="0">
                  <a:pos x="126" y="47"/>
                </a:cxn>
                <a:cxn ang="0">
                  <a:pos x="143" y="51"/>
                </a:cxn>
                <a:cxn ang="0">
                  <a:pos x="131" y="58"/>
                </a:cxn>
                <a:cxn ang="0">
                  <a:pos x="56" y="107"/>
                </a:cxn>
                <a:cxn ang="0">
                  <a:pos x="65" y="118"/>
                </a:cxn>
                <a:cxn ang="0">
                  <a:pos x="79" y="135"/>
                </a:cxn>
                <a:cxn ang="0">
                  <a:pos x="74" y="158"/>
                </a:cxn>
                <a:cxn ang="0">
                  <a:pos x="88" y="185"/>
                </a:cxn>
                <a:cxn ang="0">
                  <a:pos x="108" y="214"/>
                </a:cxn>
                <a:cxn ang="0">
                  <a:pos x="118" y="227"/>
                </a:cxn>
                <a:cxn ang="0">
                  <a:pos x="105" y="197"/>
                </a:cxn>
                <a:cxn ang="0">
                  <a:pos x="125" y="225"/>
                </a:cxn>
                <a:cxn ang="0">
                  <a:pos x="150" y="255"/>
                </a:cxn>
                <a:cxn ang="0">
                  <a:pos x="184" y="269"/>
                </a:cxn>
                <a:cxn ang="0">
                  <a:pos x="213" y="290"/>
                </a:cxn>
                <a:cxn ang="0">
                  <a:pos x="224" y="288"/>
                </a:cxn>
                <a:cxn ang="0">
                  <a:pos x="212" y="268"/>
                </a:cxn>
                <a:cxn ang="0">
                  <a:pos x="197" y="262"/>
                </a:cxn>
                <a:cxn ang="0">
                  <a:pos x="194" y="239"/>
                </a:cxn>
                <a:cxn ang="0">
                  <a:pos x="171" y="250"/>
                </a:cxn>
                <a:cxn ang="0">
                  <a:pos x="168" y="210"/>
                </a:cxn>
                <a:cxn ang="0">
                  <a:pos x="184" y="206"/>
                </a:cxn>
                <a:cxn ang="0">
                  <a:pos x="196" y="202"/>
                </a:cxn>
                <a:cxn ang="0">
                  <a:pos x="214" y="211"/>
                </a:cxn>
                <a:cxn ang="0">
                  <a:pos x="221" y="205"/>
                </a:cxn>
                <a:cxn ang="0">
                  <a:pos x="234" y="179"/>
                </a:cxn>
                <a:cxn ang="0">
                  <a:pos x="233" y="171"/>
                </a:cxn>
                <a:cxn ang="0">
                  <a:pos x="252" y="157"/>
                </a:cxn>
                <a:cxn ang="0">
                  <a:pos x="266" y="143"/>
                </a:cxn>
                <a:cxn ang="0">
                  <a:pos x="273" y="131"/>
                </a:cxn>
                <a:cxn ang="0">
                  <a:pos x="255" y="135"/>
                </a:cxn>
                <a:cxn ang="0">
                  <a:pos x="295" y="298"/>
                </a:cxn>
                <a:cxn ang="0">
                  <a:pos x="272" y="288"/>
                </a:cxn>
                <a:cxn ang="0">
                  <a:pos x="251" y="288"/>
                </a:cxn>
                <a:cxn ang="0">
                  <a:pos x="236" y="286"/>
                </a:cxn>
                <a:cxn ang="0">
                  <a:pos x="230" y="307"/>
                </a:cxn>
                <a:cxn ang="0">
                  <a:pos x="223" y="335"/>
                </a:cxn>
                <a:cxn ang="0">
                  <a:pos x="308" y="302"/>
                </a:cxn>
              </a:cxnLst>
              <a:rect l="0" t="0" r="r" b="b"/>
              <a:pathLst>
                <a:path w="384" h="384">
                  <a:moveTo>
                    <a:pt x="384" y="192"/>
                  </a:moveTo>
                  <a:cubicBezTo>
                    <a:pt x="384" y="298"/>
                    <a:pt x="298" y="384"/>
                    <a:pt x="192" y="384"/>
                  </a:cubicBezTo>
                  <a:cubicBezTo>
                    <a:pt x="86" y="384"/>
                    <a:pt x="0" y="298"/>
                    <a:pt x="0" y="192"/>
                  </a:cubicBezTo>
                  <a:cubicBezTo>
                    <a:pt x="0" y="86"/>
                    <a:pt x="86" y="0"/>
                    <a:pt x="192" y="0"/>
                  </a:cubicBezTo>
                  <a:cubicBezTo>
                    <a:pt x="298" y="0"/>
                    <a:pt x="384" y="86"/>
                    <a:pt x="384" y="192"/>
                  </a:cubicBezTo>
                  <a:close/>
                  <a:moveTo>
                    <a:pt x="255" y="135"/>
                  </a:moveTo>
                  <a:cubicBezTo>
                    <a:pt x="256" y="135"/>
                    <a:pt x="257" y="130"/>
                    <a:pt x="258" y="129"/>
                  </a:cubicBezTo>
                  <a:cubicBezTo>
                    <a:pt x="260" y="127"/>
                    <a:pt x="262" y="126"/>
                    <a:pt x="264" y="125"/>
                  </a:cubicBezTo>
                  <a:cubicBezTo>
                    <a:pt x="268" y="124"/>
                    <a:pt x="272" y="123"/>
                    <a:pt x="277" y="122"/>
                  </a:cubicBezTo>
                  <a:cubicBezTo>
                    <a:pt x="281" y="121"/>
                    <a:pt x="286" y="121"/>
                    <a:pt x="289" y="125"/>
                  </a:cubicBezTo>
                  <a:cubicBezTo>
                    <a:pt x="289" y="124"/>
                    <a:pt x="295" y="119"/>
                    <a:pt x="295" y="119"/>
                  </a:cubicBezTo>
                  <a:cubicBezTo>
                    <a:pt x="298" y="118"/>
                    <a:pt x="301" y="118"/>
                    <a:pt x="303" y="116"/>
                  </a:cubicBezTo>
                  <a:cubicBezTo>
                    <a:pt x="303" y="115"/>
                    <a:pt x="303" y="110"/>
                    <a:pt x="303" y="110"/>
                  </a:cubicBezTo>
                  <a:cubicBezTo>
                    <a:pt x="299" y="111"/>
                    <a:pt x="298" y="107"/>
                    <a:pt x="297" y="103"/>
                  </a:cubicBezTo>
                  <a:cubicBezTo>
                    <a:pt x="297" y="104"/>
                    <a:pt x="297" y="104"/>
                    <a:pt x="296" y="105"/>
                  </a:cubicBezTo>
                  <a:cubicBezTo>
                    <a:pt x="296" y="102"/>
                    <a:pt x="291" y="104"/>
                    <a:pt x="290" y="104"/>
                  </a:cubicBezTo>
                  <a:cubicBezTo>
                    <a:pt x="284" y="102"/>
                    <a:pt x="285" y="98"/>
                    <a:pt x="283" y="94"/>
                  </a:cubicBezTo>
                  <a:cubicBezTo>
                    <a:pt x="282" y="92"/>
                    <a:pt x="279" y="91"/>
                    <a:pt x="278" y="89"/>
                  </a:cubicBezTo>
                  <a:cubicBezTo>
                    <a:pt x="277" y="87"/>
                    <a:pt x="277" y="84"/>
                    <a:pt x="274" y="84"/>
                  </a:cubicBezTo>
                  <a:cubicBezTo>
                    <a:pt x="273" y="84"/>
                    <a:pt x="270" y="89"/>
                    <a:pt x="270" y="89"/>
                  </a:cubicBezTo>
                  <a:cubicBezTo>
                    <a:pt x="267" y="88"/>
                    <a:pt x="266" y="89"/>
                    <a:pt x="265" y="90"/>
                  </a:cubicBezTo>
                  <a:cubicBezTo>
                    <a:pt x="263" y="91"/>
                    <a:pt x="262" y="91"/>
                    <a:pt x="260" y="92"/>
                  </a:cubicBezTo>
                  <a:cubicBezTo>
                    <a:pt x="265" y="90"/>
                    <a:pt x="258" y="88"/>
                    <a:pt x="256" y="88"/>
                  </a:cubicBezTo>
                  <a:cubicBezTo>
                    <a:pt x="260" y="87"/>
                    <a:pt x="258" y="83"/>
                    <a:pt x="256" y="82"/>
                  </a:cubicBezTo>
                  <a:cubicBezTo>
                    <a:pt x="256" y="82"/>
                    <a:pt x="257" y="82"/>
                    <a:pt x="257" y="82"/>
                  </a:cubicBezTo>
                  <a:cubicBezTo>
                    <a:pt x="257" y="79"/>
                    <a:pt x="250" y="77"/>
                    <a:pt x="247" y="76"/>
                  </a:cubicBezTo>
                  <a:cubicBezTo>
                    <a:pt x="245" y="74"/>
                    <a:pt x="233" y="72"/>
                    <a:pt x="231" y="73"/>
                  </a:cubicBezTo>
                  <a:cubicBezTo>
                    <a:pt x="228" y="75"/>
                    <a:pt x="231" y="80"/>
                    <a:pt x="231" y="83"/>
                  </a:cubicBezTo>
                  <a:cubicBezTo>
                    <a:pt x="232" y="86"/>
                    <a:pt x="228" y="86"/>
                    <a:pt x="228" y="89"/>
                  </a:cubicBezTo>
                  <a:cubicBezTo>
                    <a:pt x="228" y="93"/>
                    <a:pt x="236" y="92"/>
                    <a:pt x="234" y="98"/>
                  </a:cubicBezTo>
                  <a:cubicBezTo>
                    <a:pt x="233" y="102"/>
                    <a:pt x="228" y="102"/>
                    <a:pt x="226" y="105"/>
                  </a:cubicBezTo>
                  <a:cubicBezTo>
                    <a:pt x="224" y="108"/>
                    <a:pt x="227" y="112"/>
                    <a:pt x="229" y="114"/>
                  </a:cubicBezTo>
                  <a:cubicBezTo>
                    <a:pt x="231" y="115"/>
                    <a:pt x="225" y="118"/>
                    <a:pt x="224" y="118"/>
                  </a:cubicBezTo>
                  <a:cubicBezTo>
                    <a:pt x="220" y="120"/>
                    <a:pt x="217" y="114"/>
                    <a:pt x="216" y="110"/>
                  </a:cubicBezTo>
                  <a:cubicBezTo>
                    <a:pt x="215" y="108"/>
                    <a:pt x="215" y="104"/>
                    <a:pt x="212" y="103"/>
                  </a:cubicBezTo>
                  <a:cubicBezTo>
                    <a:pt x="210" y="102"/>
                    <a:pt x="206" y="102"/>
                    <a:pt x="205" y="103"/>
                  </a:cubicBezTo>
                  <a:cubicBezTo>
                    <a:pt x="203" y="99"/>
                    <a:pt x="198" y="98"/>
                    <a:pt x="194" y="97"/>
                  </a:cubicBezTo>
                  <a:cubicBezTo>
                    <a:pt x="189" y="95"/>
                    <a:pt x="185" y="95"/>
                    <a:pt x="180" y="96"/>
                  </a:cubicBezTo>
                  <a:cubicBezTo>
                    <a:pt x="181" y="95"/>
                    <a:pt x="179" y="88"/>
                    <a:pt x="175" y="89"/>
                  </a:cubicBezTo>
                  <a:cubicBezTo>
                    <a:pt x="176" y="86"/>
                    <a:pt x="176" y="84"/>
                    <a:pt x="176" y="81"/>
                  </a:cubicBezTo>
                  <a:cubicBezTo>
                    <a:pt x="177" y="79"/>
                    <a:pt x="178" y="77"/>
                    <a:pt x="179" y="75"/>
                  </a:cubicBezTo>
                  <a:cubicBezTo>
                    <a:pt x="180" y="74"/>
                    <a:pt x="185" y="69"/>
                    <a:pt x="183" y="68"/>
                  </a:cubicBezTo>
                  <a:cubicBezTo>
                    <a:pt x="188" y="69"/>
                    <a:pt x="193" y="69"/>
                    <a:pt x="196" y="66"/>
                  </a:cubicBezTo>
                  <a:cubicBezTo>
                    <a:pt x="198" y="63"/>
                    <a:pt x="199" y="60"/>
                    <a:pt x="202" y="57"/>
                  </a:cubicBezTo>
                  <a:cubicBezTo>
                    <a:pt x="205" y="53"/>
                    <a:pt x="209" y="58"/>
                    <a:pt x="212" y="58"/>
                  </a:cubicBezTo>
                  <a:cubicBezTo>
                    <a:pt x="217" y="59"/>
                    <a:pt x="217" y="53"/>
                    <a:pt x="214" y="51"/>
                  </a:cubicBezTo>
                  <a:cubicBezTo>
                    <a:pt x="218" y="51"/>
                    <a:pt x="215" y="45"/>
                    <a:pt x="213" y="44"/>
                  </a:cubicBezTo>
                  <a:cubicBezTo>
                    <a:pt x="211" y="43"/>
                    <a:pt x="202" y="46"/>
                    <a:pt x="207" y="47"/>
                  </a:cubicBezTo>
                  <a:cubicBezTo>
                    <a:pt x="206" y="47"/>
                    <a:pt x="200" y="59"/>
                    <a:pt x="196" y="53"/>
                  </a:cubicBezTo>
                  <a:cubicBezTo>
                    <a:pt x="195" y="52"/>
                    <a:pt x="195" y="47"/>
                    <a:pt x="193" y="46"/>
                  </a:cubicBezTo>
                  <a:cubicBezTo>
                    <a:pt x="190" y="46"/>
                    <a:pt x="189" y="49"/>
                    <a:pt x="188" y="50"/>
                  </a:cubicBezTo>
                  <a:cubicBezTo>
                    <a:pt x="190" y="47"/>
                    <a:pt x="181" y="45"/>
                    <a:pt x="180" y="44"/>
                  </a:cubicBezTo>
                  <a:cubicBezTo>
                    <a:pt x="183" y="42"/>
                    <a:pt x="180" y="39"/>
                    <a:pt x="178" y="38"/>
                  </a:cubicBezTo>
                  <a:cubicBezTo>
                    <a:pt x="176" y="36"/>
                    <a:pt x="169" y="35"/>
                    <a:pt x="168" y="37"/>
                  </a:cubicBezTo>
                  <a:cubicBezTo>
                    <a:pt x="163" y="43"/>
                    <a:pt x="173" y="44"/>
                    <a:pt x="175" y="45"/>
                  </a:cubicBezTo>
                  <a:cubicBezTo>
                    <a:pt x="176" y="46"/>
                    <a:pt x="179" y="48"/>
                    <a:pt x="177" y="49"/>
                  </a:cubicBezTo>
                  <a:cubicBezTo>
                    <a:pt x="176" y="50"/>
                    <a:pt x="171" y="51"/>
                    <a:pt x="171" y="52"/>
                  </a:cubicBezTo>
                  <a:cubicBezTo>
                    <a:pt x="169" y="54"/>
                    <a:pt x="172" y="57"/>
                    <a:pt x="170" y="59"/>
                  </a:cubicBezTo>
                  <a:cubicBezTo>
                    <a:pt x="168" y="57"/>
                    <a:pt x="168" y="53"/>
                    <a:pt x="166" y="50"/>
                  </a:cubicBezTo>
                  <a:cubicBezTo>
                    <a:pt x="168" y="53"/>
                    <a:pt x="157" y="52"/>
                    <a:pt x="157" y="52"/>
                  </a:cubicBezTo>
                  <a:cubicBezTo>
                    <a:pt x="154" y="52"/>
                    <a:pt x="148" y="54"/>
                    <a:pt x="145" y="50"/>
                  </a:cubicBezTo>
                  <a:cubicBezTo>
                    <a:pt x="144" y="49"/>
                    <a:pt x="144" y="44"/>
                    <a:pt x="146" y="45"/>
                  </a:cubicBezTo>
                  <a:cubicBezTo>
                    <a:pt x="144" y="43"/>
                    <a:pt x="142" y="41"/>
                    <a:pt x="141" y="40"/>
                  </a:cubicBezTo>
                  <a:cubicBezTo>
                    <a:pt x="132" y="43"/>
                    <a:pt x="125" y="47"/>
                    <a:pt x="117" y="51"/>
                  </a:cubicBezTo>
                  <a:cubicBezTo>
                    <a:pt x="118" y="51"/>
                    <a:pt x="119" y="51"/>
                    <a:pt x="120" y="50"/>
                  </a:cubicBezTo>
                  <a:cubicBezTo>
                    <a:pt x="122" y="50"/>
                    <a:pt x="124" y="48"/>
                    <a:pt x="126" y="47"/>
                  </a:cubicBezTo>
                  <a:cubicBezTo>
                    <a:pt x="128" y="46"/>
                    <a:pt x="134" y="43"/>
                    <a:pt x="136" y="46"/>
                  </a:cubicBezTo>
                  <a:cubicBezTo>
                    <a:pt x="137" y="45"/>
                    <a:pt x="137" y="45"/>
                    <a:pt x="138" y="44"/>
                  </a:cubicBezTo>
                  <a:cubicBezTo>
                    <a:pt x="139" y="46"/>
                    <a:pt x="141" y="48"/>
                    <a:pt x="143" y="51"/>
                  </a:cubicBezTo>
                  <a:cubicBezTo>
                    <a:pt x="141" y="50"/>
                    <a:pt x="137" y="50"/>
                    <a:pt x="135" y="50"/>
                  </a:cubicBezTo>
                  <a:cubicBezTo>
                    <a:pt x="133" y="51"/>
                    <a:pt x="130" y="51"/>
                    <a:pt x="130" y="53"/>
                  </a:cubicBezTo>
                  <a:cubicBezTo>
                    <a:pt x="130" y="55"/>
                    <a:pt x="131" y="57"/>
                    <a:pt x="131" y="58"/>
                  </a:cubicBezTo>
                  <a:cubicBezTo>
                    <a:pt x="128" y="56"/>
                    <a:pt x="125" y="52"/>
                    <a:pt x="121" y="51"/>
                  </a:cubicBezTo>
                  <a:cubicBezTo>
                    <a:pt x="119" y="51"/>
                    <a:pt x="117" y="51"/>
                    <a:pt x="115" y="52"/>
                  </a:cubicBezTo>
                  <a:cubicBezTo>
                    <a:pt x="91" y="65"/>
                    <a:pt x="71" y="84"/>
                    <a:pt x="56" y="107"/>
                  </a:cubicBezTo>
                  <a:cubicBezTo>
                    <a:pt x="57" y="108"/>
                    <a:pt x="58" y="109"/>
                    <a:pt x="59" y="109"/>
                  </a:cubicBezTo>
                  <a:cubicBezTo>
                    <a:pt x="62" y="110"/>
                    <a:pt x="59" y="117"/>
                    <a:pt x="64" y="113"/>
                  </a:cubicBezTo>
                  <a:cubicBezTo>
                    <a:pt x="66" y="115"/>
                    <a:pt x="66" y="116"/>
                    <a:pt x="65" y="118"/>
                  </a:cubicBezTo>
                  <a:cubicBezTo>
                    <a:pt x="65" y="118"/>
                    <a:pt x="75" y="124"/>
                    <a:pt x="76" y="125"/>
                  </a:cubicBezTo>
                  <a:cubicBezTo>
                    <a:pt x="78" y="126"/>
                    <a:pt x="80" y="128"/>
                    <a:pt x="81" y="130"/>
                  </a:cubicBezTo>
                  <a:cubicBezTo>
                    <a:pt x="82" y="132"/>
                    <a:pt x="80" y="134"/>
                    <a:pt x="79" y="135"/>
                  </a:cubicBezTo>
                  <a:cubicBezTo>
                    <a:pt x="78" y="134"/>
                    <a:pt x="75" y="130"/>
                    <a:pt x="74" y="131"/>
                  </a:cubicBezTo>
                  <a:cubicBezTo>
                    <a:pt x="73" y="133"/>
                    <a:pt x="74" y="139"/>
                    <a:pt x="77" y="139"/>
                  </a:cubicBezTo>
                  <a:cubicBezTo>
                    <a:pt x="73" y="139"/>
                    <a:pt x="75" y="155"/>
                    <a:pt x="74" y="158"/>
                  </a:cubicBezTo>
                  <a:cubicBezTo>
                    <a:pt x="74" y="158"/>
                    <a:pt x="74" y="158"/>
                    <a:pt x="74" y="158"/>
                  </a:cubicBezTo>
                  <a:cubicBezTo>
                    <a:pt x="73" y="161"/>
                    <a:pt x="76" y="173"/>
                    <a:pt x="81" y="172"/>
                  </a:cubicBezTo>
                  <a:cubicBezTo>
                    <a:pt x="78" y="172"/>
                    <a:pt x="87" y="184"/>
                    <a:pt x="88" y="185"/>
                  </a:cubicBezTo>
                  <a:cubicBezTo>
                    <a:pt x="91" y="187"/>
                    <a:pt x="95" y="188"/>
                    <a:pt x="97" y="192"/>
                  </a:cubicBezTo>
                  <a:cubicBezTo>
                    <a:pt x="100" y="195"/>
                    <a:pt x="100" y="201"/>
                    <a:pt x="103" y="203"/>
                  </a:cubicBezTo>
                  <a:cubicBezTo>
                    <a:pt x="102" y="206"/>
                    <a:pt x="108" y="210"/>
                    <a:pt x="108" y="214"/>
                  </a:cubicBezTo>
                  <a:cubicBezTo>
                    <a:pt x="108" y="214"/>
                    <a:pt x="107" y="214"/>
                    <a:pt x="107" y="215"/>
                  </a:cubicBezTo>
                  <a:cubicBezTo>
                    <a:pt x="108" y="218"/>
                    <a:pt x="113" y="218"/>
                    <a:pt x="115" y="221"/>
                  </a:cubicBezTo>
                  <a:cubicBezTo>
                    <a:pt x="116" y="223"/>
                    <a:pt x="115" y="228"/>
                    <a:pt x="118" y="227"/>
                  </a:cubicBezTo>
                  <a:cubicBezTo>
                    <a:pt x="118" y="222"/>
                    <a:pt x="115" y="216"/>
                    <a:pt x="112" y="212"/>
                  </a:cubicBezTo>
                  <a:cubicBezTo>
                    <a:pt x="110" y="209"/>
                    <a:pt x="109" y="207"/>
                    <a:pt x="108" y="204"/>
                  </a:cubicBezTo>
                  <a:cubicBezTo>
                    <a:pt x="106" y="202"/>
                    <a:pt x="106" y="199"/>
                    <a:pt x="105" y="197"/>
                  </a:cubicBezTo>
                  <a:cubicBezTo>
                    <a:pt x="106" y="197"/>
                    <a:pt x="112" y="199"/>
                    <a:pt x="111" y="200"/>
                  </a:cubicBezTo>
                  <a:cubicBezTo>
                    <a:pt x="109" y="205"/>
                    <a:pt x="119" y="214"/>
                    <a:pt x="122" y="217"/>
                  </a:cubicBezTo>
                  <a:cubicBezTo>
                    <a:pt x="123" y="218"/>
                    <a:pt x="128" y="225"/>
                    <a:pt x="125" y="225"/>
                  </a:cubicBezTo>
                  <a:cubicBezTo>
                    <a:pt x="129" y="225"/>
                    <a:pt x="133" y="230"/>
                    <a:pt x="135" y="233"/>
                  </a:cubicBezTo>
                  <a:cubicBezTo>
                    <a:pt x="137" y="236"/>
                    <a:pt x="136" y="241"/>
                    <a:pt x="138" y="245"/>
                  </a:cubicBezTo>
                  <a:cubicBezTo>
                    <a:pt x="139" y="250"/>
                    <a:pt x="146" y="252"/>
                    <a:pt x="150" y="255"/>
                  </a:cubicBezTo>
                  <a:cubicBezTo>
                    <a:pt x="154" y="256"/>
                    <a:pt x="157" y="259"/>
                    <a:pt x="160" y="260"/>
                  </a:cubicBezTo>
                  <a:cubicBezTo>
                    <a:pt x="166" y="262"/>
                    <a:pt x="167" y="260"/>
                    <a:pt x="171" y="260"/>
                  </a:cubicBezTo>
                  <a:cubicBezTo>
                    <a:pt x="178" y="259"/>
                    <a:pt x="179" y="266"/>
                    <a:pt x="184" y="269"/>
                  </a:cubicBezTo>
                  <a:cubicBezTo>
                    <a:pt x="187" y="270"/>
                    <a:pt x="194" y="273"/>
                    <a:pt x="198" y="271"/>
                  </a:cubicBezTo>
                  <a:cubicBezTo>
                    <a:pt x="196" y="272"/>
                    <a:pt x="203" y="282"/>
                    <a:pt x="204" y="283"/>
                  </a:cubicBezTo>
                  <a:cubicBezTo>
                    <a:pt x="206" y="286"/>
                    <a:pt x="210" y="287"/>
                    <a:pt x="213" y="290"/>
                  </a:cubicBezTo>
                  <a:cubicBezTo>
                    <a:pt x="213" y="290"/>
                    <a:pt x="214" y="289"/>
                    <a:pt x="214" y="288"/>
                  </a:cubicBezTo>
                  <a:cubicBezTo>
                    <a:pt x="213" y="291"/>
                    <a:pt x="218" y="296"/>
                    <a:pt x="221" y="296"/>
                  </a:cubicBezTo>
                  <a:cubicBezTo>
                    <a:pt x="223" y="295"/>
                    <a:pt x="224" y="290"/>
                    <a:pt x="224" y="288"/>
                  </a:cubicBezTo>
                  <a:cubicBezTo>
                    <a:pt x="219" y="290"/>
                    <a:pt x="215" y="288"/>
                    <a:pt x="212" y="283"/>
                  </a:cubicBezTo>
                  <a:cubicBezTo>
                    <a:pt x="211" y="282"/>
                    <a:pt x="207" y="275"/>
                    <a:pt x="211" y="275"/>
                  </a:cubicBezTo>
                  <a:cubicBezTo>
                    <a:pt x="216" y="275"/>
                    <a:pt x="212" y="271"/>
                    <a:pt x="212" y="268"/>
                  </a:cubicBezTo>
                  <a:cubicBezTo>
                    <a:pt x="211" y="264"/>
                    <a:pt x="208" y="262"/>
                    <a:pt x="206" y="259"/>
                  </a:cubicBezTo>
                  <a:cubicBezTo>
                    <a:pt x="205" y="262"/>
                    <a:pt x="200" y="261"/>
                    <a:pt x="198" y="259"/>
                  </a:cubicBezTo>
                  <a:cubicBezTo>
                    <a:pt x="198" y="259"/>
                    <a:pt x="197" y="261"/>
                    <a:pt x="197" y="262"/>
                  </a:cubicBezTo>
                  <a:cubicBezTo>
                    <a:pt x="196" y="262"/>
                    <a:pt x="195" y="262"/>
                    <a:pt x="194" y="261"/>
                  </a:cubicBezTo>
                  <a:cubicBezTo>
                    <a:pt x="194" y="258"/>
                    <a:pt x="194" y="255"/>
                    <a:pt x="195" y="251"/>
                  </a:cubicBezTo>
                  <a:cubicBezTo>
                    <a:pt x="196" y="247"/>
                    <a:pt x="205" y="238"/>
                    <a:pt x="194" y="239"/>
                  </a:cubicBezTo>
                  <a:cubicBezTo>
                    <a:pt x="190" y="239"/>
                    <a:pt x="188" y="240"/>
                    <a:pt x="187" y="244"/>
                  </a:cubicBezTo>
                  <a:cubicBezTo>
                    <a:pt x="186" y="247"/>
                    <a:pt x="186" y="249"/>
                    <a:pt x="183" y="251"/>
                  </a:cubicBezTo>
                  <a:cubicBezTo>
                    <a:pt x="181" y="252"/>
                    <a:pt x="173" y="251"/>
                    <a:pt x="171" y="250"/>
                  </a:cubicBezTo>
                  <a:cubicBezTo>
                    <a:pt x="166" y="247"/>
                    <a:pt x="163" y="239"/>
                    <a:pt x="163" y="234"/>
                  </a:cubicBezTo>
                  <a:cubicBezTo>
                    <a:pt x="163" y="227"/>
                    <a:pt x="166" y="221"/>
                    <a:pt x="163" y="215"/>
                  </a:cubicBezTo>
                  <a:cubicBezTo>
                    <a:pt x="164" y="213"/>
                    <a:pt x="166" y="211"/>
                    <a:pt x="168" y="210"/>
                  </a:cubicBezTo>
                  <a:cubicBezTo>
                    <a:pt x="169" y="209"/>
                    <a:pt x="171" y="210"/>
                    <a:pt x="172" y="207"/>
                  </a:cubicBezTo>
                  <a:cubicBezTo>
                    <a:pt x="171" y="207"/>
                    <a:pt x="170" y="206"/>
                    <a:pt x="170" y="206"/>
                  </a:cubicBezTo>
                  <a:cubicBezTo>
                    <a:pt x="173" y="208"/>
                    <a:pt x="180" y="203"/>
                    <a:pt x="184" y="206"/>
                  </a:cubicBezTo>
                  <a:cubicBezTo>
                    <a:pt x="186" y="207"/>
                    <a:pt x="188" y="208"/>
                    <a:pt x="189" y="205"/>
                  </a:cubicBezTo>
                  <a:cubicBezTo>
                    <a:pt x="189" y="205"/>
                    <a:pt x="187" y="202"/>
                    <a:pt x="188" y="200"/>
                  </a:cubicBezTo>
                  <a:cubicBezTo>
                    <a:pt x="189" y="204"/>
                    <a:pt x="192" y="205"/>
                    <a:pt x="196" y="202"/>
                  </a:cubicBezTo>
                  <a:cubicBezTo>
                    <a:pt x="197" y="203"/>
                    <a:pt x="201" y="203"/>
                    <a:pt x="204" y="204"/>
                  </a:cubicBezTo>
                  <a:cubicBezTo>
                    <a:pt x="207" y="206"/>
                    <a:pt x="207" y="209"/>
                    <a:pt x="211" y="205"/>
                  </a:cubicBezTo>
                  <a:cubicBezTo>
                    <a:pt x="213" y="208"/>
                    <a:pt x="213" y="208"/>
                    <a:pt x="214" y="211"/>
                  </a:cubicBezTo>
                  <a:cubicBezTo>
                    <a:pt x="214" y="214"/>
                    <a:pt x="216" y="221"/>
                    <a:pt x="218" y="222"/>
                  </a:cubicBezTo>
                  <a:cubicBezTo>
                    <a:pt x="224" y="225"/>
                    <a:pt x="222" y="217"/>
                    <a:pt x="222" y="214"/>
                  </a:cubicBezTo>
                  <a:cubicBezTo>
                    <a:pt x="222" y="213"/>
                    <a:pt x="222" y="205"/>
                    <a:pt x="221" y="205"/>
                  </a:cubicBezTo>
                  <a:cubicBezTo>
                    <a:pt x="213" y="203"/>
                    <a:pt x="216" y="197"/>
                    <a:pt x="221" y="193"/>
                  </a:cubicBezTo>
                  <a:cubicBezTo>
                    <a:pt x="222" y="192"/>
                    <a:pt x="227" y="190"/>
                    <a:pt x="230" y="188"/>
                  </a:cubicBezTo>
                  <a:cubicBezTo>
                    <a:pt x="232" y="186"/>
                    <a:pt x="235" y="183"/>
                    <a:pt x="234" y="179"/>
                  </a:cubicBezTo>
                  <a:cubicBezTo>
                    <a:pt x="235" y="179"/>
                    <a:pt x="236" y="178"/>
                    <a:pt x="236" y="177"/>
                  </a:cubicBezTo>
                  <a:cubicBezTo>
                    <a:pt x="236" y="177"/>
                    <a:pt x="233" y="174"/>
                    <a:pt x="232" y="175"/>
                  </a:cubicBezTo>
                  <a:cubicBezTo>
                    <a:pt x="234" y="174"/>
                    <a:pt x="234" y="172"/>
                    <a:pt x="233" y="171"/>
                  </a:cubicBezTo>
                  <a:cubicBezTo>
                    <a:pt x="235" y="169"/>
                    <a:pt x="234" y="166"/>
                    <a:pt x="236" y="165"/>
                  </a:cubicBezTo>
                  <a:cubicBezTo>
                    <a:pt x="239" y="169"/>
                    <a:pt x="245" y="165"/>
                    <a:pt x="242" y="162"/>
                  </a:cubicBezTo>
                  <a:cubicBezTo>
                    <a:pt x="244" y="158"/>
                    <a:pt x="250" y="160"/>
                    <a:pt x="252" y="157"/>
                  </a:cubicBezTo>
                  <a:cubicBezTo>
                    <a:pt x="255" y="158"/>
                    <a:pt x="253" y="153"/>
                    <a:pt x="255" y="150"/>
                  </a:cubicBezTo>
                  <a:cubicBezTo>
                    <a:pt x="256" y="148"/>
                    <a:pt x="259" y="148"/>
                    <a:pt x="262" y="147"/>
                  </a:cubicBezTo>
                  <a:cubicBezTo>
                    <a:pt x="262" y="147"/>
                    <a:pt x="268" y="143"/>
                    <a:pt x="266" y="143"/>
                  </a:cubicBezTo>
                  <a:cubicBezTo>
                    <a:pt x="270" y="144"/>
                    <a:pt x="279" y="139"/>
                    <a:pt x="272" y="135"/>
                  </a:cubicBezTo>
                  <a:cubicBezTo>
                    <a:pt x="273" y="133"/>
                    <a:pt x="270" y="132"/>
                    <a:pt x="268" y="132"/>
                  </a:cubicBezTo>
                  <a:cubicBezTo>
                    <a:pt x="269" y="131"/>
                    <a:pt x="272" y="132"/>
                    <a:pt x="273" y="131"/>
                  </a:cubicBezTo>
                  <a:cubicBezTo>
                    <a:pt x="276" y="129"/>
                    <a:pt x="274" y="128"/>
                    <a:pt x="271" y="127"/>
                  </a:cubicBezTo>
                  <a:cubicBezTo>
                    <a:pt x="268" y="126"/>
                    <a:pt x="263" y="128"/>
                    <a:pt x="261" y="130"/>
                  </a:cubicBezTo>
                  <a:cubicBezTo>
                    <a:pt x="259" y="132"/>
                    <a:pt x="257" y="134"/>
                    <a:pt x="255" y="135"/>
                  </a:cubicBezTo>
                  <a:close/>
                  <a:moveTo>
                    <a:pt x="308" y="302"/>
                  </a:moveTo>
                  <a:cubicBezTo>
                    <a:pt x="306" y="301"/>
                    <a:pt x="303" y="301"/>
                    <a:pt x="301" y="300"/>
                  </a:cubicBezTo>
                  <a:cubicBezTo>
                    <a:pt x="299" y="300"/>
                    <a:pt x="298" y="299"/>
                    <a:pt x="295" y="298"/>
                  </a:cubicBezTo>
                  <a:cubicBezTo>
                    <a:pt x="296" y="293"/>
                    <a:pt x="290" y="292"/>
                    <a:pt x="287" y="289"/>
                  </a:cubicBezTo>
                  <a:cubicBezTo>
                    <a:pt x="284" y="287"/>
                    <a:pt x="282" y="284"/>
                    <a:pt x="277" y="285"/>
                  </a:cubicBezTo>
                  <a:cubicBezTo>
                    <a:pt x="276" y="285"/>
                    <a:pt x="271" y="287"/>
                    <a:pt x="272" y="288"/>
                  </a:cubicBezTo>
                  <a:cubicBezTo>
                    <a:pt x="269" y="285"/>
                    <a:pt x="268" y="284"/>
                    <a:pt x="263" y="282"/>
                  </a:cubicBezTo>
                  <a:cubicBezTo>
                    <a:pt x="259" y="281"/>
                    <a:pt x="257" y="276"/>
                    <a:pt x="253" y="281"/>
                  </a:cubicBezTo>
                  <a:cubicBezTo>
                    <a:pt x="251" y="283"/>
                    <a:pt x="252" y="286"/>
                    <a:pt x="251" y="288"/>
                  </a:cubicBezTo>
                  <a:cubicBezTo>
                    <a:pt x="247" y="285"/>
                    <a:pt x="254" y="282"/>
                    <a:pt x="251" y="279"/>
                  </a:cubicBezTo>
                  <a:cubicBezTo>
                    <a:pt x="248" y="275"/>
                    <a:pt x="243" y="281"/>
                    <a:pt x="240" y="282"/>
                  </a:cubicBezTo>
                  <a:cubicBezTo>
                    <a:pt x="239" y="284"/>
                    <a:pt x="237" y="284"/>
                    <a:pt x="236" y="286"/>
                  </a:cubicBezTo>
                  <a:cubicBezTo>
                    <a:pt x="235" y="287"/>
                    <a:pt x="234" y="290"/>
                    <a:pt x="233" y="291"/>
                  </a:cubicBezTo>
                  <a:cubicBezTo>
                    <a:pt x="233" y="289"/>
                    <a:pt x="228" y="290"/>
                    <a:pt x="228" y="288"/>
                  </a:cubicBezTo>
                  <a:cubicBezTo>
                    <a:pt x="229" y="294"/>
                    <a:pt x="229" y="301"/>
                    <a:pt x="230" y="307"/>
                  </a:cubicBezTo>
                  <a:cubicBezTo>
                    <a:pt x="231" y="310"/>
                    <a:pt x="230" y="316"/>
                    <a:pt x="227" y="319"/>
                  </a:cubicBezTo>
                  <a:cubicBezTo>
                    <a:pt x="224" y="321"/>
                    <a:pt x="221" y="324"/>
                    <a:pt x="220" y="329"/>
                  </a:cubicBezTo>
                  <a:cubicBezTo>
                    <a:pt x="220" y="332"/>
                    <a:pt x="220" y="334"/>
                    <a:pt x="223" y="335"/>
                  </a:cubicBezTo>
                  <a:cubicBezTo>
                    <a:pt x="223" y="339"/>
                    <a:pt x="219" y="342"/>
                    <a:pt x="219" y="346"/>
                  </a:cubicBezTo>
                  <a:cubicBezTo>
                    <a:pt x="219" y="346"/>
                    <a:pt x="220" y="348"/>
                    <a:pt x="220" y="350"/>
                  </a:cubicBezTo>
                  <a:cubicBezTo>
                    <a:pt x="254" y="344"/>
                    <a:pt x="285" y="327"/>
                    <a:pt x="308" y="30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34" tIns="45717" rIns="91434" bIns="45717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570"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endParaRPr>
            </a:p>
          </p:txBody>
        </p:sp>
      </p:grpSp>
      <p:grpSp>
        <p:nvGrpSpPr>
          <p:cNvPr id="59" name="Group 117"/>
          <p:cNvGrpSpPr/>
          <p:nvPr/>
        </p:nvGrpSpPr>
        <p:grpSpPr>
          <a:xfrm>
            <a:off x="2681070" y="2851771"/>
            <a:ext cx="468996" cy="455568"/>
            <a:chOff x="630683" y="3383511"/>
            <a:chExt cx="469021" cy="455593"/>
          </a:xfrm>
        </p:grpSpPr>
        <p:sp>
          <p:nvSpPr>
            <p:cNvPr id="60" name="Oval 59"/>
            <p:cNvSpPr>
              <a:spLocks noChangeAspect="1"/>
            </p:cNvSpPr>
            <p:nvPr/>
          </p:nvSpPr>
          <p:spPr>
            <a:xfrm>
              <a:off x="630683" y="3383511"/>
              <a:ext cx="469021" cy="4555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570"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endParaRPr>
            </a:p>
          </p:txBody>
        </p:sp>
        <p:sp>
          <p:nvSpPr>
            <p:cNvPr id="61" name="Freeform 117"/>
            <p:cNvSpPr/>
            <p:nvPr/>
          </p:nvSpPr>
          <p:spPr bwMode="auto">
            <a:xfrm>
              <a:off x="730012" y="3476126"/>
              <a:ext cx="270363" cy="270363"/>
            </a:xfrm>
            <a:custGeom>
              <a:avLst/>
              <a:gdLst/>
              <a:ahLst/>
              <a:cxnLst>
                <a:cxn ang="0">
                  <a:pos x="56" y="51"/>
                </a:cxn>
                <a:cxn ang="0">
                  <a:pos x="51" y="55"/>
                </a:cxn>
                <a:cxn ang="0">
                  <a:pos x="43" y="57"/>
                </a:cxn>
                <a:cxn ang="0">
                  <a:pos x="33" y="54"/>
                </a:cxn>
                <a:cxn ang="0">
                  <a:pos x="26" y="51"/>
                </a:cxn>
                <a:cxn ang="0">
                  <a:pos x="7" y="32"/>
                </a:cxn>
                <a:cxn ang="0">
                  <a:pos x="3" y="25"/>
                </a:cxn>
                <a:cxn ang="0">
                  <a:pos x="0" y="14"/>
                </a:cxn>
                <a:cxn ang="0">
                  <a:pos x="3" y="7"/>
                </a:cxn>
                <a:cxn ang="0">
                  <a:pos x="7" y="2"/>
                </a:cxn>
                <a:cxn ang="0">
                  <a:pos x="12" y="0"/>
                </a:cxn>
                <a:cxn ang="0">
                  <a:pos x="13" y="1"/>
                </a:cxn>
                <a:cxn ang="0">
                  <a:pos x="15" y="4"/>
                </a:cxn>
                <a:cxn ang="0">
                  <a:pos x="19" y="10"/>
                </a:cxn>
                <a:cxn ang="0">
                  <a:pos x="21" y="14"/>
                </a:cxn>
                <a:cxn ang="0">
                  <a:pos x="14" y="22"/>
                </a:cxn>
                <a:cxn ang="0">
                  <a:pos x="15" y="26"/>
                </a:cxn>
                <a:cxn ang="0">
                  <a:pos x="32" y="42"/>
                </a:cxn>
                <a:cxn ang="0">
                  <a:pos x="35" y="44"/>
                </a:cxn>
                <a:cxn ang="0">
                  <a:pos x="43" y="36"/>
                </a:cxn>
                <a:cxn ang="0">
                  <a:pos x="47" y="38"/>
                </a:cxn>
                <a:cxn ang="0">
                  <a:pos x="54" y="42"/>
                </a:cxn>
                <a:cxn ang="0">
                  <a:pos x="57" y="44"/>
                </a:cxn>
                <a:cxn ang="0">
                  <a:pos x="57" y="45"/>
                </a:cxn>
                <a:cxn ang="0">
                  <a:pos x="56" y="51"/>
                </a:cxn>
              </a:cxnLst>
              <a:rect l="0" t="0" r="r" b="b"/>
              <a:pathLst>
                <a:path w="57" h="57">
                  <a:moveTo>
                    <a:pt x="56" y="51"/>
                  </a:moveTo>
                  <a:cubicBezTo>
                    <a:pt x="55" y="53"/>
                    <a:pt x="53" y="54"/>
                    <a:pt x="51" y="55"/>
                  </a:cubicBezTo>
                  <a:cubicBezTo>
                    <a:pt x="49" y="56"/>
                    <a:pt x="46" y="57"/>
                    <a:pt x="43" y="57"/>
                  </a:cubicBezTo>
                  <a:cubicBezTo>
                    <a:pt x="40" y="57"/>
                    <a:pt x="36" y="55"/>
                    <a:pt x="33" y="54"/>
                  </a:cubicBezTo>
                  <a:cubicBezTo>
                    <a:pt x="30" y="53"/>
                    <a:pt x="28" y="52"/>
                    <a:pt x="26" y="51"/>
                  </a:cubicBezTo>
                  <a:cubicBezTo>
                    <a:pt x="19" y="47"/>
                    <a:pt x="11" y="38"/>
                    <a:pt x="7" y="32"/>
                  </a:cubicBezTo>
                  <a:cubicBezTo>
                    <a:pt x="5" y="29"/>
                    <a:pt x="4" y="27"/>
                    <a:pt x="3" y="25"/>
                  </a:cubicBezTo>
                  <a:cubicBezTo>
                    <a:pt x="2" y="21"/>
                    <a:pt x="0" y="18"/>
                    <a:pt x="0" y="14"/>
                  </a:cubicBezTo>
                  <a:cubicBezTo>
                    <a:pt x="0" y="11"/>
                    <a:pt x="1" y="9"/>
                    <a:pt x="3" y="7"/>
                  </a:cubicBezTo>
                  <a:cubicBezTo>
                    <a:pt x="4" y="5"/>
                    <a:pt x="5" y="3"/>
                    <a:pt x="7" y="2"/>
                  </a:cubicBezTo>
                  <a:cubicBezTo>
                    <a:pt x="8" y="1"/>
                    <a:pt x="11" y="0"/>
                    <a:pt x="12" y="0"/>
                  </a:cubicBezTo>
                  <a:cubicBezTo>
                    <a:pt x="13" y="0"/>
                    <a:pt x="13" y="0"/>
                    <a:pt x="13" y="1"/>
                  </a:cubicBezTo>
                  <a:cubicBezTo>
                    <a:pt x="14" y="1"/>
                    <a:pt x="15" y="3"/>
                    <a:pt x="15" y="4"/>
                  </a:cubicBezTo>
                  <a:cubicBezTo>
                    <a:pt x="17" y="6"/>
                    <a:pt x="18" y="8"/>
                    <a:pt x="19" y="10"/>
                  </a:cubicBezTo>
                  <a:cubicBezTo>
                    <a:pt x="20" y="12"/>
                    <a:pt x="21" y="13"/>
                    <a:pt x="21" y="14"/>
                  </a:cubicBezTo>
                  <a:cubicBezTo>
                    <a:pt x="21" y="17"/>
                    <a:pt x="14" y="20"/>
                    <a:pt x="14" y="22"/>
                  </a:cubicBezTo>
                  <a:cubicBezTo>
                    <a:pt x="14" y="23"/>
                    <a:pt x="15" y="25"/>
                    <a:pt x="15" y="26"/>
                  </a:cubicBezTo>
                  <a:cubicBezTo>
                    <a:pt x="19" y="33"/>
                    <a:pt x="24" y="38"/>
                    <a:pt x="32" y="42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7" y="44"/>
                    <a:pt x="41" y="36"/>
                    <a:pt x="43" y="36"/>
                  </a:cubicBezTo>
                  <a:cubicBezTo>
                    <a:pt x="45" y="36"/>
                    <a:pt x="46" y="38"/>
                    <a:pt x="47" y="38"/>
                  </a:cubicBezTo>
                  <a:cubicBezTo>
                    <a:pt x="49" y="40"/>
                    <a:pt x="52" y="41"/>
                    <a:pt x="54" y="42"/>
                  </a:cubicBezTo>
                  <a:cubicBezTo>
                    <a:pt x="55" y="43"/>
                    <a:pt x="57" y="43"/>
                    <a:pt x="57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7"/>
                    <a:pt x="56" y="49"/>
                    <a:pt x="56" y="5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34" tIns="45717" rIns="91434" bIns="45717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570"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endParaRPr>
            </a:p>
          </p:txBody>
        </p:sp>
      </p:grpSp>
      <p:grpSp>
        <p:nvGrpSpPr>
          <p:cNvPr id="62" name="Group 120"/>
          <p:cNvGrpSpPr/>
          <p:nvPr>
            <p:custDataLst>
              <p:tags r:id="rId3"/>
            </p:custDataLst>
          </p:nvPr>
        </p:nvGrpSpPr>
        <p:grpSpPr>
          <a:xfrm>
            <a:off x="5862518" y="2564751"/>
            <a:ext cx="468996" cy="455568"/>
            <a:chOff x="3428938" y="4190009"/>
            <a:chExt cx="469021" cy="455593"/>
          </a:xfrm>
        </p:grpSpPr>
        <p:sp>
          <p:nvSpPr>
            <p:cNvPr id="63" name="Oval 62"/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3428938" y="4190009"/>
              <a:ext cx="469021" cy="45559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570"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endParaRPr>
            </a:p>
          </p:txBody>
        </p:sp>
        <p:sp>
          <p:nvSpPr>
            <p:cNvPr id="64" name="Freeform 83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3571129" y="4279327"/>
              <a:ext cx="184638" cy="276957"/>
            </a:xfrm>
            <a:custGeom>
              <a:avLst/>
              <a:gdLst/>
              <a:ahLst/>
              <a:cxnLst>
                <a:cxn ang="0">
                  <a:pos x="38" y="26"/>
                </a:cxn>
                <a:cxn ang="0">
                  <a:pos x="24" y="55"/>
                </a:cxn>
                <a:cxn ang="0">
                  <a:pos x="20" y="58"/>
                </a:cxn>
                <a:cxn ang="0">
                  <a:pos x="16" y="55"/>
                </a:cxn>
                <a:cxn ang="0">
                  <a:pos x="2" y="26"/>
                </a:cxn>
                <a:cxn ang="0">
                  <a:pos x="0" y="19"/>
                </a:cxn>
                <a:cxn ang="0">
                  <a:pos x="20" y="0"/>
                </a:cxn>
                <a:cxn ang="0">
                  <a:pos x="39" y="19"/>
                </a:cxn>
                <a:cxn ang="0">
                  <a:pos x="38" y="26"/>
                </a:cxn>
                <a:cxn ang="0">
                  <a:pos x="20" y="9"/>
                </a:cxn>
                <a:cxn ang="0">
                  <a:pos x="10" y="19"/>
                </a:cxn>
                <a:cxn ang="0">
                  <a:pos x="20" y="29"/>
                </a:cxn>
                <a:cxn ang="0">
                  <a:pos x="30" y="19"/>
                </a:cxn>
                <a:cxn ang="0">
                  <a:pos x="20" y="9"/>
                </a:cxn>
              </a:cxnLst>
              <a:rect l="0" t="0" r="r" b="b"/>
              <a:pathLst>
                <a:path w="39" h="57">
                  <a:moveTo>
                    <a:pt x="38" y="26"/>
                  </a:moveTo>
                  <a:cubicBezTo>
                    <a:pt x="24" y="55"/>
                    <a:pt x="24" y="55"/>
                    <a:pt x="24" y="55"/>
                  </a:cubicBezTo>
                  <a:cubicBezTo>
                    <a:pt x="23" y="57"/>
                    <a:pt x="22" y="58"/>
                    <a:pt x="20" y="58"/>
                  </a:cubicBezTo>
                  <a:cubicBezTo>
                    <a:pt x="18" y="58"/>
                    <a:pt x="16" y="57"/>
                    <a:pt x="16" y="55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4"/>
                    <a:pt x="0" y="21"/>
                    <a:pt x="0" y="19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1" y="0"/>
                    <a:pt x="39" y="8"/>
                    <a:pt x="39" y="19"/>
                  </a:cubicBezTo>
                  <a:cubicBezTo>
                    <a:pt x="39" y="21"/>
                    <a:pt x="39" y="24"/>
                    <a:pt x="38" y="26"/>
                  </a:cubicBezTo>
                  <a:close/>
                  <a:moveTo>
                    <a:pt x="20" y="9"/>
                  </a:moveTo>
                  <a:cubicBezTo>
                    <a:pt x="15" y="9"/>
                    <a:pt x="10" y="14"/>
                    <a:pt x="10" y="19"/>
                  </a:cubicBezTo>
                  <a:cubicBezTo>
                    <a:pt x="10" y="24"/>
                    <a:pt x="15" y="29"/>
                    <a:pt x="20" y="29"/>
                  </a:cubicBezTo>
                  <a:cubicBezTo>
                    <a:pt x="25" y="29"/>
                    <a:pt x="30" y="24"/>
                    <a:pt x="30" y="19"/>
                  </a:cubicBezTo>
                  <a:cubicBezTo>
                    <a:pt x="30" y="14"/>
                    <a:pt x="25" y="9"/>
                    <a:pt x="20" y="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34" tIns="45717" rIns="91434" bIns="45717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570"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endParaRPr>
            </a:p>
          </p:txBody>
        </p:sp>
      </p:grpSp>
      <p:grpSp>
        <p:nvGrpSpPr>
          <p:cNvPr id="65" name="Group 123"/>
          <p:cNvGrpSpPr/>
          <p:nvPr>
            <p:custDataLst>
              <p:tags r:id="rId4"/>
            </p:custDataLst>
          </p:nvPr>
        </p:nvGrpSpPr>
        <p:grpSpPr>
          <a:xfrm>
            <a:off x="5862518" y="4003830"/>
            <a:ext cx="468996" cy="455568"/>
            <a:chOff x="6299532" y="4190009"/>
            <a:chExt cx="469021" cy="455593"/>
          </a:xfrm>
        </p:grpSpPr>
        <p:sp>
          <p:nvSpPr>
            <p:cNvPr id="66" name="Oval 65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6299532" y="4190009"/>
              <a:ext cx="469021" cy="45559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570"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endParaRPr>
            </a:p>
          </p:txBody>
        </p:sp>
        <p:sp>
          <p:nvSpPr>
            <p:cNvPr id="67" name="Freeform 63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6386874" y="4310694"/>
              <a:ext cx="294337" cy="214222"/>
            </a:xfrm>
            <a:custGeom>
              <a:avLst/>
              <a:gdLst/>
              <a:ahLst/>
              <a:cxnLst>
                <a:cxn ang="0">
                  <a:pos x="62" y="57"/>
                </a:cxn>
                <a:cxn ang="0">
                  <a:pos x="18" y="57"/>
                </a:cxn>
                <a:cxn ang="0">
                  <a:pos x="0" y="39"/>
                </a:cxn>
                <a:cxn ang="0">
                  <a:pos x="11" y="23"/>
                </a:cxn>
                <a:cxn ang="0">
                  <a:pos x="11" y="21"/>
                </a:cxn>
                <a:cxn ang="0">
                  <a:pos x="31" y="0"/>
                </a:cxn>
                <a:cxn ang="0">
                  <a:pos x="50" y="13"/>
                </a:cxn>
                <a:cxn ang="0">
                  <a:pos x="57" y="11"/>
                </a:cxn>
                <a:cxn ang="0">
                  <a:pos x="67" y="21"/>
                </a:cxn>
                <a:cxn ang="0">
                  <a:pos x="66" y="27"/>
                </a:cxn>
                <a:cxn ang="0">
                  <a:pos x="78" y="42"/>
                </a:cxn>
                <a:cxn ang="0">
                  <a:pos x="62" y="57"/>
                </a:cxn>
                <a:cxn ang="0">
                  <a:pos x="51" y="31"/>
                </a:cxn>
                <a:cxn ang="0">
                  <a:pos x="42" y="31"/>
                </a:cxn>
                <a:cxn ang="0">
                  <a:pos x="42" y="17"/>
                </a:cxn>
                <a:cxn ang="0">
                  <a:pos x="40" y="16"/>
                </a:cxn>
                <a:cxn ang="0">
                  <a:pos x="33" y="16"/>
                </a:cxn>
                <a:cxn ang="0">
                  <a:pos x="31" y="17"/>
                </a:cxn>
                <a:cxn ang="0">
                  <a:pos x="31" y="31"/>
                </a:cxn>
                <a:cxn ang="0">
                  <a:pos x="22" y="31"/>
                </a:cxn>
                <a:cxn ang="0">
                  <a:pos x="21" y="33"/>
                </a:cxn>
                <a:cxn ang="0">
                  <a:pos x="21" y="34"/>
                </a:cxn>
                <a:cxn ang="0">
                  <a:pos x="36" y="48"/>
                </a:cxn>
                <a:cxn ang="0">
                  <a:pos x="36" y="48"/>
                </a:cxn>
                <a:cxn ang="0">
                  <a:pos x="37" y="48"/>
                </a:cxn>
                <a:cxn ang="0">
                  <a:pos x="51" y="34"/>
                </a:cxn>
                <a:cxn ang="0">
                  <a:pos x="52" y="33"/>
                </a:cxn>
                <a:cxn ang="0">
                  <a:pos x="51" y="31"/>
                </a:cxn>
              </a:cxnLst>
              <a:rect l="0" t="0" r="r" b="b"/>
              <a:pathLst>
                <a:path w="78" h="57">
                  <a:moveTo>
                    <a:pt x="62" y="57"/>
                  </a:moveTo>
                  <a:cubicBezTo>
                    <a:pt x="18" y="57"/>
                    <a:pt x="18" y="57"/>
                    <a:pt x="18" y="57"/>
                  </a:cubicBezTo>
                  <a:cubicBezTo>
                    <a:pt x="9" y="57"/>
                    <a:pt x="0" y="49"/>
                    <a:pt x="0" y="39"/>
                  </a:cubicBezTo>
                  <a:cubicBezTo>
                    <a:pt x="0" y="32"/>
                    <a:pt x="5" y="26"/>
                    <a:pt x="11" y="23"/>
                  </a:cubicBezTo>
                  <a:cubicBezTo>
                    <a:pt x="11" y="22"/>
                    <a:pt x="11" y="22"/>
                    <a:pt x="11" y="21"/>
                  </a:cubicBezTo>
                  <a:cubicBezTo>
                    <a:pt x="11" y="10"/>
                    <a:pt x="20" y="0"/>
                    <a:pt x="31" y="0"/>
                  </a:cubicBezTo>
                  <a:cubicBezTo>
                    <a:pt x="40" y="0"/>
                    <a:pt x="47" y="6"/>
                    <a:pt x="50" y="13"/>
                  </a:cubicBezTo>
                  <a:cubicBezTo>
                    <a:pt x="52" y="12"/>
                    <a:pt x="55" y="11"/>
                    <a:pt x="57" y="11"/>
                  </a:cubicBezTo>
                  <a:cubicBezTo>
                    <a:pt x="63" y="11"/>
                    <a:pt x="67" y="15"/>
                    <a:pt x="67" y="21"/>
                  </a:cubicBezTo>
                  <a:cubicBezTo>
                    <a:pt x="67" y="23"/>
                    <a:pt x="67" y="25"/>
                    <a:pt x="66" y="27"/>
                  </a:cubicBezTo>
                  <a:cubicBezTo>
                    <a:pt x="73" y="28"/>
                    <a:pt x="78" y="34"/>
                    <a:pt x="78" y="42"/>
                  </a:cubicBezTo>
                  <a:cubicBezTo>
                    <a:pt x="78" y="50"/>
                    <a:pt x="71" y="57"/>
                    <a:pt x="62" y="57"/>
                  </a:cubicBezTo>
                  <a:close/>
                  <a:moveTo>
                    <a:pt x="51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16"/>
                    <a:pt x="41" y="16"/>
                    <a:pt x="4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2" y="16"/>
                    <a:pt x="31" y="16"/>
                    <a:pt x="31" y="17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22" y="31"/>
                    <a:pt x="21" y="32"/>
                    <a:pt x="21" y="33"/>
                  </a:cubicBezTo>
                  <a:cubicBezTo>
                    <a:pt x="21" y="33"/>
                    <a:pt x="21" y="33"/>
                    <a:pt x="21" y="34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2" y="32"/>
                    <a:pt x="51" y="31"/>
                    <a:pt x="51" y="3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34" tIns="45717" rIns="91434" bIns="45717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570"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endParaRPr>
            </a:p>
          </p:txBody>
        </p:sp>
      </p:grpSp>
      <p:grpSp>
        <p:nvGrpSpPr>
          <p:cNvPr id="2" name="Group 129"/>
          <p:cNvGrpSpPr/>
          <p:nvPr>
            <p:custDataLst>
              <p:tags r:id="rId5"/>
            </p:custDataLst>
          </p:nvPr>
        </p:nvGrpSpPr>
        <p:grpSpPr>
          <a:xfrm>
            <a:off x="2702123" y="4661858"/>
            <a:ext cx="468996" cy="455568"/>
            <a:chOff x="7501792" y="2878680"/>
            <a:chExt cx="469021" cy="455593"/>
          </a:xfrm>
        </p:grpSpPr>
        <p:sp>
          <p:nvSpPr>
            <p:cNvPr id="3" name="Oval 71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7501792" y="2878680"/>
              <a:ext cx="469021" cy="4555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570"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endParaRPr>
            </a:p>
          </p:txBody>
        </p:sp>
        <p:sp>
          <p:nvSpPr>
            <p:cNvPr id="4" name="Freeform 53"/>
            <p:cNvSpPr/>
            <p:nvPr>
              <p:custDataLst>
                <p:tags r:id="rId8"/>
              </p:custDataLst>
            </p:nvPr>
          </p:nvSpPr>
          <p:spPr bwMode="auto">
            <a:xfrm>
              <a:off x="7580281" y="2990787"/>
              <a:ext cx="312043" cy="231379"/>
            </a:xfrm>
            <a:custGeom>
              <a:avLst/>
              <a:gdLst/>
              <a:ahLst/>
              <a:cxnLst>
                <a:cxn ang="0">
                  <a:pos x="55" y="50"/>
                </a:cxn>
                <a:cxn ang="0">
                  <a:pos x="16" y="50"/>
                </a:cxn>
                <a:cxn ang="0">
                  <a:pos x="0" y="34"/>
                </a:cxn>
                <a:cxn ang="0">
                  <a:pos x="9" y="20"/>
                </a:cxn>
                <a:cxn ang="0">
                  <a:pos x="9" y="18"/>
                </a:cxn>
                <a:cxn ang="0">
                  <a:pos x="27" y="0"/>
                </a:cxn>
                <a:cxn ang="0">
                  <a:pos x="44" y="11"/>
                </a:cxn>
                <a:cxn ang="0">
                  <a:pos x="50" y="9"/>
                </a:cxn>
                <a:cxn ang="0">
                  <a:pos x="59" y="18"/>
                </a:cxn>
                <a:cxn ang="0">
                  <a:pos x="58" y="23"/>
                </a:cxn>
                <a:cxn ang="0">
                  <a:pos x="68" y="36"/>
                </a:cxn>
                <a:cxn ang="0">
                  <a:pos x="55" y="50"/>
                </a:cxn>
              </a:cxnLst>
              <a:rect l="0" t="0" r="r" b="b"/>
              <a:pathLst>
                <a:path w="68" h="50">
                  <a:moveTo>
                    <a:pt x="55" y="50"/>
                  </a:moveTo>
                  <a:cubicBezTo>
                    <a:pt x="16" y="50"/>
                    <a:pt x="16" y="50"/>
                    <a:pt x="16" y="50"/>
                  </a:cubicBezTo>
                  <a:cubicBezTo>
                    <a:pt x="7" y="50"/>
                    <a:pt x="0" y="43"/>
                    <a:pt x="0" y="34"/>
                  </a:cubicBezTo>
                  <a:cubicBezTo>
                    <a:pt x="0" y="28"/>
                    <a:pt x="4" y="22"/>
                    <a:pt x="9" y="20"/>
                  </a:cubicBezTo>
                  <a:cubicBezTo>
                    <a:pt x="9" y="19"/>
                    <a:pt x="9" y="19"/>
                    <a:pt x="9" y="18"/>
                  </a:cubicBezTo>
                  <a:cubicBezTo>
                    <a:pt x="9" y="8"/>
                    <a:pt x="17" y="0"/>
                    <a:pt x="27" y="0"/>
                  </a:cubicBezTo>
                  <a:cubicBezTo>
                    <a:pt x="35" y="0"/>
                    <a:pt x="41" y="5"/>
                    <a:pt x="44" y="11"/>
                  </a:cubicBezTo>
                  <a:cubicBezTo>
                    <a:pt x="46" y="10"/>
                    <a:pt x="48" y="9"/>
                    <a:pt x="50" y="9"/>
                  </a:cubicBezTo>
                  <a:cubicBezTo>
                    <a:pt x="55" y="9"/>
                    <a:pt x="59" y="13"/>
                    <a:pt x="59" y="18"/>
                  </a:cubicBezTo>
                  <a:cubicBezTo>
                    <a:pt x="59" y="20"/>
                    <a:pt x="59" y="22"/>
                    <a:pt x="58" y="23"/>
                  </a:cubicBezTo>
                  <a:cubicBezTo>
                    <a:pt x="64" y="25"/>
                    <a:pt x="68" y="30"/>
                    <a:pt x="68" y="36"/>
                  </a:cubicBezTo>
                  <a:cubicBezTo>
                    <a:pt x="68" y="44"/>
                    <a:pt x="62" y="50"/>
                    <a:pt x="55" y="5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34" tIns="45717" rIns="91434" bIns="45717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570"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endParaRPr>
            </a:p>
          </p:txBody>
        </p:sp>
      </p:grpSp>
      <p:sp>
        <p:nvSpPr>
          <p:cNvPr id="76" name="TextBox 32"/>
          <p:cNvSpPr txBox="1"/>
          <p:nvPr>
            <p:custDataLst>
              <p:tags r:id="rId6"/>
            </p:custDataLst>
          </p:nvPr>
        </p:nvSpPr>
        <p:spPr>
          <a:xfrm>
            <a:off x="1115497" y="4677299"/>
            <a:ext cx="1542421" cy="3321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>
                <a:solidFill>
                  <a:schemeClr val="accent1"/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rPr>
              <a:t>自动化测试</a:t>
            </a:r>
          </a:p>
        </p:txBody>
      </p:sp>
      <p:cxnSp>
        <p:nvCxnSpPr>
          <p:cNvPr id="79" name="直接箭头连接符 78"/>
          <p:cNvCxnSpPr>
            <a:stCxn id="57" idx="6"/>
            <a:endCxn id="63" idx="1"/>
          </p:cNvCxnSpPr>
          <p:nvPr/>
        </p:nvCxnSpPr>
        <p:spPr>
          <a:xfrm>
            <a:off x="3150235" y="2078990"/>
            <a:ext cx="2780665" cy="55245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stCxn id="57" idx="5"/>
            <a:endCxn id="66" idx="1"/>
          </p:cNvCxnSpPr>
          <p:nvPr/>
        </p:nvCxnSpPr>
        <p:spPr>
          <a:xfrm>
            <a:off x="3081655" y="2239645"/>
            <a:ext cx="2849880" cy="1830705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60" idx="6"/>
            <a:endCxn id="63" idx="2"/>
          </p:cNvCxnSpPr>
          <p:nvPr/>
        </p:nvCxnSpPr>
        <p:spPr>
          <a:xfrm flipV="1">
            <a:off x="3150235" y="2792730"/>
            <a:ext cx="2712085" cy="28702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stCxn id="60" idx="5"/>
            <a:endCxn id="66" idx="2"/>
          </p:cNvCxnSpPr>
          <p:nvPr/>
        </p:nvCxnSpPr>
        <p:spPr>
          <a:xfrm>
            <a:off x="3081655" y="3240405"/>
            <a:ext cx="2780665" cy="99123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stCxn id="54" idx="6"/>
            <a:endCxn id="63" idx="3"/>
          </p:cNvCxnSpPr>
          <p:nvPr/>
        </p:nvCxnSpPr>
        <p:spPr>
          <a:xfrm flipV="1">
            <a:off x="3150235" y="2953385"/>
            <a:ext cx="2780665" cy="1071245"/>
          </a:xfrm>
          <a:prstGeom prst="straightConnector1">
            <a:avLst/>
          </a:prstGeom>
          <a:ln w="31750" cap="rnd">
            <a:solidFill>
              <a:schemeClr val="accent4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3" idx="6"/>
            <a:endCxn id="66" idx="3"/>
          </p:cNvCxnSpPr>
          <p:nvPr/>
        </p:nvCxnSpPr>
        <p:spPr>
          <a:xfrm flipV="1">
            <a:off x="3171190" y="4392295"/>
            <a:ext cx="2760345" cy="497205"/>
          </a:xfrm>
          <a:prstGeom prst="straightConnector1">
            <a:avLst/>
          </a:prstGeom>
          <a:ln w="3175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Text Box 538"/>
          <p:cNvSpPr txBox="1"/>
          <p:nvPr/>
        </p:nvSpPr>
        <p:spPr>
          <a:xfrm>
            <a:off x="540465" y="260747"/>
            <a:ext cx="5940028" cy="575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1" lang="en-US" altLang="zh-CN" sz="21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2024</a:t>
            </a:r>
            <a:r>
              <a:rPr kumimoji="1" lang="zh-CN" altLang="en-US" sz="21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年度团队人员管理</a:t>
            </a: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38"/>
          <p:cNvSpPr txBox="1"/>
          <p:nvPr/>
        </p:nvSpPr>
        <p:spPr>
          <a:xfrm>
            <a:off x="540465" y="260747"/>
            <a:ext cx="5940028" cy="575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1" lang="zh-CN" altLang="en-US" sz="21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问题与反思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3250664"/>
              </p:ext>
            </p:extLst>
          </p:nvPr>
        </p:nvGraphicFramePr>
        <p:xfrm>
          <a:off x="506095" y="962660"/>
          <a:ext cx="8115300" cy="3669665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200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6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6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03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1" u="none" strike="noStrike" kern="1200" dirty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现状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改进措施</a:t>
                      </a:r>
                      <a:endParaRPr lang="zh-CN" altLang="en-US" sz="1050" b="1" u="none" strike="noStrike" kern="1200" dirty="0">
                        <a:solidFill>
                          <a:schemeClr val="l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740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功能需求响应速度不及时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尽管我们在平台功能完善方面取得了一定的成果，但在面对一些紧急的项目需求时，功能开发和上线的速度还不够快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、在需求分析阶段，测试部提前介入，参与需求讨论和评审，提前制定测试计划和测试用例；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74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用户体验有待提升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部分用户反馈，测试平台的操作界面还不够友好，一些功能的操作流程较为繁琐，需要学习，浪费客户时间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、统一平台风格，设计简洁操作流程，增加提示，简化功能使用流程、多调研用户体验，写明详细的用户手册；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96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兼容性测试做的不够全面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多品牌情况下，由于测试环境有限，无法在多品牌多手机版本进行验证，只能验证部分主流的收手机，导致遗漏部分有兼容性问题现象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、寻找第三方测试公司，在做一次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inpin heiti" panose="00000500000000000000" pitchFamily="2" charset="-122"/>
                        </a:rPr>
                        <a:t>Android与IOS行业主流机型或版本的兼容性测试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8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自动化测试覆盖率不足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虽然我们已经推动了自动化测试，但周期相对较长，维护成本高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、增加自动化实现人员，加快推动自动化落实进度，并有效执行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38"/>
          <p:cNvSpPr txBox="1"/>
          <p:nvPr/>
        </p:nvSpPr>
        <p:spPr>
          <a:xfrm>
            <a:off x="540465" y="260747"/>
            <a:ext cx="5940028" cy="575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1" lang="en-US" altLang="zh-CN" sz="21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kumimoji="1" lang="zh-CN" altLang="en-US" sz="21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年规划事项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3599220"/>
              </p:ext>
            </p:extLst>
          </p:nvPr>
        </p:nvGraphicFramePr>
        <p:xfrm>
          <a:off x="506095" y="962660"/>
          <a:ext cx="8033385" cy="4822825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2070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r>
                        <a:rPr lang="en-US" altLang="zh-CN" sz="105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5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工作类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1" u="none" strike="noStrike" kern="1200" dirty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工作目标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工作计划</a:t>
                      </a:r>
                      <a:endParaRPr lang="zh-CN" altLang="en-US" sz="1050" b="1" u="none" strike="noStrike" kern="1200" dirty="0">
                        <a:solidFill>
                          <a:schemeClr val="l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需求管理与开发流程改进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建立更加完善的需求管理机制，加强对需求变更的控制和管理，确保开发团队能够及时、准确地了解需求变化，并快速做出响应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、需求按高，中，低，三个等级划分，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动态调整：根据项目进度和实际情况，定期对需求优先级进行动态调整，确保高优先级需求优先开发；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功能优化与扩展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根据用户反馈和项目需求，持续优化平台功能，简化操作流程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、建立反馈渠道，及时知悉客户动向，第一时间了解场景，为常用功能添加快捷键，按钮，方便快速使用和配置；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2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客户端与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测试支持</a:t>
                      </a:r>
                    </a:p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环境模拟与兼容性测试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搭建更加全面的客户端测试环境，涵盖不同操作系统版本、硬件配置和网络环境，确保能够对客户端软件进行全面的兼容性测试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、加强自动化测试的覆盖，采用虚拟化技术，利用虚拟化软件（如</a:t>
                      </a:r>
                      <a:r>
                        <a:rPr lang="en-US" altLang="zh-CN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VMware</a:t>
                      </a:r>
                      <a:r>
                        <a:rPr lang="zh-CN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VirtualBox</a:t>
                      </a:r>
                      <a:r>
                        <a:rPr lang="zh-CN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）创建多个虚拟机，分别安装不同操作系统版本，确保测试环境的多样性；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2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APP</a:t>
                      </a:r>
                    </a:p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移动设备管理与云测试平台集成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引入移动设备管理工具，对公司的移动测试设备进行统一管理和调配，提高设备的利用率，可利用第三方云测平台，对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进行多机兼容性测试；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、引入云测平台，对每次上线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版本进行兼容性测试；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安全测试与隐私保护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进行全方位的安全漏洞扫描和渗透测试，确保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不存在安全漏洞和隐私泄露风险。同时，与开发团队密切合作，从代码层面加强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的安全性设计和开发，提高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的安全防护能力。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、与开发团队密切合作，从代码层面加强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APP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的安全性设计和开发，提高</a:t>
                      </a:r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APP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的安全防护能力；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UI/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接口自动化测试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可以作为效率与质量的提升工具，在回归测试过程中减少人力成本，提高质量规避重复性工作。</a:t>
                      </a: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月份前完成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UI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自动化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月份新增并发与压力测试的用例补充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8cfa232-4f8c-4c34-a8c2-27750a9d6316"/>
  <p:tag name="COMMONDATA" val="eyJoZGlkIjoiYzE3Mzk1NDY2MjRiMDZlZTRmM2RiYzhkYWI3YjMyYz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02b74d7-a995-44de-ae7e-e93a863a7d7b}"/>
  <p:tag name="TABLE_ENDDRAG_ORIGIN_RECT" val="627*376"/>
  <p:tag name="TABLE_ENDDRAG_RECT" val="39*75*627*376"/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d1dbd2e-0aa4-4631-a9e7-726c0ef9c446}"/>
  <p:tag name="TABLE_ENDDRAG_ORIGIN_RECT" val="627*376"/>
  <p:tag name="TABLE_ENDDRAG_RECT" val="39*75*627*376"/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5.81156342595168,&quot;left&quot;:461.6155678040245,&quot;top&quot;:144.45,&quot;width&quot;:168.7344321959754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5.81156342595168,&quot;left&quot;:461.6155678040245,&quot;top&quot;:144.45,&quot;width&quot;:168.7344321959754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5.81156342595168,&quot;left&quot;:461.6155678040245,&quot;top&quot;:144.45,&quot;width&quot;:168.7344321959754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5.81156342595168,&quot;left&quot;:461.6155678040245,&quot;top&quot;:144.45,&quot;width&quot;:168.7344321959754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5.81156342595168,&quot;left&quot;:461.6155678040245,&quot;top&quot;:144.45,&quot;width&quot;:168.7344321959754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5.81156342595168,&quot;left&quot;:461.6155678040245,&quot;top&quot;:144.45,&quot;width&quot;:168.7344321959754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5.81156342595168,&quot;left&quot;:461.6155678040245,&quot;top&quot;:144.45,&quot;width&quot;:168.7344321959754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5.81156342595168,&quot;left&quot;:461.6155678040245,&quot;top&quot;:144.45,&quot;width&quot;:168.7344321959754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5.81156342595168,&quot;left&quot;:461.6155678040245,&quot;top&quot;:144.45,&quot;width&quot;:168.7344321959754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5.81156342595168,&quot;left&quot;:461.6155678040245,&quot;top&quot;:144.45,&quot;width&quot;:168.7344321959754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5.81156342595168,&quot;left&quot;:461.6155678040245,&quot;top&quot;:144.45,&quot;width&quot;:168.7344321959754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5.81156342595168,&quot;left&quot;:461.6155678040245,&quot;top&quot;:144.45,&quot;width&quot;:168.73443219597547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38*352"/>
  <p:tag name="TABLE_ENDDRAG_RECT" val="39*87*639*35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01aa5a1-5312-4996-993e-c187ab60013b}"/>
  <p:tag name="TABLE_ENDDRAG_ORIGIN_RECT" val="631*352"/>
  <p:tag name="TABLE_ENDDRAG_RECT" val="39*75*631*352"/>
  <p:tag name="KSO_WM_BEAUTIFY_FLAG" val=""/>
</p:tagLst>
</file>

<file path=ppt/theme/theme1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3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78296" tIns="39147" rIns="78296" bIns="39147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78296" tIns="39147" rIns="78296" bIns="39147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自定义设计方案">
  <a:themeElements>
    <a:clrScheme name="4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4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78296" tIns="39147" rIns="78296" bIns="39147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78296" tIns="39147" rIns="78296" bIns="39147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78296" tIns="39147" rIns="78296" bIns="39147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78296" tIns="39147" rIns="78296" bIns="39147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1169</Words>
  <Application>Microsoft Office PowerPoint</Application>
  <PresentationFormat>全屏显示(4:3)</PresentationFormat>
  <Paragraphs>152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FrutigerNext LT BlackCn</vt:lpstr>
      <vt:lpstr>FrutigerNext LT Bold</vt:lpstr>
      <vt:lpstr>FrutigerNext LT Medium</vt:lpstr>
      <vt:lpstr>FrutigerNext LT Regular</vt:lpstr>
      <vt:lpstr>inpin heiti</vt:lpstr>
      <vt:lpstr>华文细黑</vt:lpstr>
      <vt:lpstr>宋体</vt:lpstr>
      <vt:lpstr>微软雅黑</vt:lpstr>
      <vt:lpstr>Arial</vt:lpstr>
      <vt:lpstr>Open Sans</vt:lpstr>
      <vt:lpstr>Times New Roman</vt:lpstr>
      <vt:lpstr>Wingdings</vt:lpstr>
      <vt:lpstr>3_自定义设计方案</vt:lpstr>
      <vt:lpstr>4_自定义设计方案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健 陈</cp:lastModifiedBy>
  <cp:revision>4978</cp:revision>
  <cp:lastPrinted>2113-01-01T00:00:00Z</cp:lastPrinted>
  <dcterms:created xsi:type="dcterms:W3CDTF">2113-01-01T00:00:00Z</dcterms:created>
  <dcterms:modified xsi:type="dcterms:W3CDTF">2025-02-05T10:53:05Z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76898488F10D4C65A96572BAB3DDDC24_13</vt:lpwstr>
  </property>
  <property fmtid="{D5CDD505-2E9C-101B-9397-08002B2CF9AE}" pid="4" name="KSOProductBuildVer">
    <vt:lpwstr>2052-12.1.0.19770</vt:lpwstr>
  </property>
</Properties>
</file>